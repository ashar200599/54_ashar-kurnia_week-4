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6" r:id="rId5"/>
    <p:sldId id="309" r:id="rId6"/>
    <p:sldId id="310" r:id="rId7"/>
    <p:sldId id="312" r:id="rId8"/>
    <p:sldId id="311" r:id="rId9"/>
    <p:sldId id="313" r:id="rId10"/>
    <p:sldId id="315" r:id="rId11"/>
    <p:sldId id="314" r:id="rId12"/>
    <p:sldId id="317" r:id="rId13"/>
    <p:sldId id="318" r:id="rId14"/>
    <p:sldId id="31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>
        <p:scale>
          <a:sx n="62" d="100"/>
          <a:sy n="62" d="100"/>
        </p:scale>
        <p:origin x="1488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ebi.ac.uk/gxa/experiments/E-MTAB-9479/Experiment%20Design" TargetMode="Externa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ebi.ac.uk/gxa/experiments/E-MTAB-9479/Experiment%20Design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BA5DE4-FB6C-409D-8ECC-50A76C9F778D}" type="doc">
      <dgm:prSet loTypeId="urn:microsoft.com/office/officeart/2005/8/layout/hProcess4" loCatId="process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ID"/>
        </a:p>
      </dgm:t>
    </dgm:pt>
    <dgm:pt modelId="{3D353D27-8450-4E52-8DB5-5AAE79A9BDD1}">
      <dgm:prSet phldrT="[Text]" phldr="0" custT="1"/>
      <dgm:spPr/>
      <dgm:t>
        <a:bodyPr/>
        <a:lstStyle/>
        <a:p>
          <a:r>
            <a:rPr lang="en-US" sz="1600" b="1" dirty="0"/>
            <a:t>Data Collection</a:t>
          </a:r>
          <a:endParaRPr lang="en-ID" sz="1600" b="1" dirty="0"/>
        </a:p>
      </dgm:t>
    </dgm:pt>
    <dgm:pt modelId="{475B404C-B6E8-4AFC-AB23-1B019E2CB813}" type="parTrans" cxnId="{67077C92-B977-4CB1-A89F-0ECF25B18FAD}">
      <dgm:prSet/>
      <dgm:spPr/>
      <dgm:t>
        <a:bodyPr/>
        <a:lstStyle/>
        <a:p>
          <a:endParaRPr lang="en-ID"/>
        </a:p>
      </dgm:t>
    </dgm:pt>
    <dgm:pt modelId="{61A484C9-DAB0-463D-AC12-6BBEEC676E82}" type="sibTrans" cxnId="{67077C92-B977-4CB1-A89F-0ECF25B18FAD}">
      <dgm:prSet/>
      <dgm:spPr/>
      <dgm:t>
        <a:bodyPr/>
        <a:lstStyle/>
        <a:p>
          <a:endParaRPr lang="en-ID"/>
        </a:p>
      </dgm:t>
    </dgm:pt>
    <dgm:pt modelId="{95C0AD9F-EEEC-4723-8227-520D88F9C362}">
      <dgm:prSet phldrT="[Text]" phldr="0" custT="1"/>
      <dgm:spPr/>
      <dgm:t>
        <a:bodyPr/>
        <a:lstStyle/>
        <a:p>
          <a:r>
            <a:rPr lang="en-US" sz="1400" dirty="0"/>
            <a:t>RNA seq of OC samples obtained from EBI.</a:t>
          </a:r>
          <a:endParaRPr lang="en-ID" sz="1400" dirty="0"/>
        </a:p>
      </dgm:t>
    </dgm:pt>
    <dgm:pt modelId="{A09AA9F1-10AB-4444-85C5-E735E133DBB1}" type="parTrans" cxnId="{46A8391D-5CE9-4A9B-99BE-114019FDFD46}">
      <dgm:prSet/>
      <dgm:spPr/>
      <dgm:t>
        <a:bodyPr/>
        <a:lstStyle/>
        <a:p>
          <a:endParaRPr lang="en-ID"/>
        </a:p>
      </dgm:t>
    </dgm:pt>
    <dgm:pt modelId="{0F40E9AC-F02F-4A2F-A1A8-32DEA2188B26}" type="sibTrans" cxnId="{46A8391D-5CE9-4A9B-99BE-114019FDFD46}">
      <dgm:prSet/>
      <dgm:spPr/>
      <dgm:t>
        <a:bodyPr/>
        <a:lstStyle/>
        <a:p>
          <a:endParaRPr lang="en-ID"/>
        </a:p>
      </dgm:t>
    </dgm:pt>
    <dgm:pt modelId="{F472E5AC-9E03-41D7-A984-C65E833CD4E7}">
      <dgm:prSet phldrT="[Text]" phldr="0" custT="1"/>
      <dgm:spPr/>
      <dgm:t>
        <a:bodyPr/>
        <a:lstStyle/>
        <a:p>
          <a:r>
            <a:rPr lang="en-US" sz="1600" b="1" dirty="0"/>
            <a:t>DEG analysis</a:t>
          </a:r>
          <a:endParaRPr lang="en-ID" sz="1600" b="1" dirty="0"/>
        </a:p>
      </dgm:t>
    </dgm:pt>
    <dgm:pt modelId="{816A5D95-F87F-4BC2-8971-E14D8685D64A}" type="parTrans" cxnId="{EE38FDB5-F41B-40D0-B613-83FDD2345F2F}">
      <dgm:prSet/>
      <dgm:spPr/>
      <dgm:t>
        <a:bodyPr/>
        <a:lstStyle/>
        <a:p>
          <a:endParaRPr lang="en-ID"/>
        </a:p>
      </dgm:t>
    </dgm:pt>
    <dgm:pt modelId="{C46AC43E-B30C-4BF6-9377-394D11A85840}" type="sibTrans" cxnId="{EE38FDB5-F41B-40D0-B613-83FDD2345F2F}">
      <dgm:prSet/>
      <dgm:spPr/>
      <dgm:t>
        <a:bodyPr/>
        <a:lstStyle/>
        <a:p>
          <a:endParaRPr lang="en-ID"/>
        </a:p>
      </dgm:t>
    </dgm:pt>
    <dgm:pt modelId="{BDC4F6F3-13AD-4530-B5AF-60804F6CBCF1}">
      <dgm:prSet phldrT="[Text]" phldr="0" custT="1"/>
      <dgm:spPr/>
      <dgm:t>
        <a:bodyPr/>
        <a:lstStyle/>
        <a:p>
          <a:r>
            <a:rPr lang="en-US" sz="1400" dirty="0"/>
            <a:t>Performed using Deseq2 package R software.</a:t>
          </a:r>
          <a:endParaRPr lang="en-ID" sz="1400" dirty="0"/>
        </a:p>
      </dgm:t>
    </dgm:pt>
    <dgm:pt modelId="{9E8726F5-F7F1-40F3-95A2-266EE0E3FF49}" type="parTrans" cxnId="{E44DDA7B-BF43-46C9-BF28-9573F4FC993D}">
      <dgm:prSet/>
      <dgm:spPr/>
      <dgm:t>
        <a:bodyPr/>
        <a:lstStyle/>
        <a:p>
          <a:endParaRPr lang="en-ID"/>
        </a:p>
      </dgm:t>
    </dgm:pt>
    <dgm:pt modelId="{DA870B7D-B390-49ED-A4DF-03451CFCE3EB}" type="sibTrans" cxnId="{E44DDA7B-BF43-46C9-BF28-9573F4FC993D}">
      <dgm:prSet/>
      <dgm:spPr/>
      <dgm:t>
        <a:bodyPr/>
        <a:lstStyle/>
        <a:p>
          <a:endParaRPr lang="en-ID"/>
        </a:p>
      </dgm:t>
    </dgm:pt>
    <dgm:pt modelId="{342280FE-404C-4F35-B928-DA468849660C}">
      <dgm:prSet phldrT="[Text]" phldr="0" custT="1"/>
      <dgm:spPr/>
      <dgm:t>
        <a:bodyPr/>
        <a:lstStyle/>
        <a:p>
          <a:r>
            <a:rPr lang="en-US" sz="1400" dirty="0"/>
            <a:t>GO Enrichment performed using </a:t>
          </a:r>
          <a:r>
            <a:rPr lang="en-US" sz="1400" dirty="0" err="1"/>
            <a:t>clusterProfile</a:t>
          </a:r>
          <a:r>
            <a:rPr lang="en-US" sz="1400" dirty="0"/>
            <a:t> package R software.</a:t>
          </a:r>
          <a:endParaRPr lang="en-ID" sz="1400" dirty="0"/>
        </a:p>
      </dgm:t>
    </dgm:pt>
    <dgm:pt modelId="{B05078B0-541F-4CF7-81C5-CB43C2D55CB6}" type="parTrans" cxnId="{4EF6E0CA-FCE2-471C-81A1-D7641785697A}">
      <dgm:prSet/>
      <dgm:spPr/>
      <dgm:t>
        <a:bodyPr/>
        <a:lstStyle/>
        <a:p>
          <a:endParaRPr lang="en-ID"/>
        </a:p>
      </dgm:t>
    </dgm:pt>
    <dgm:pt modelId="{A78C6A69-B0F3-4D47-9492-CBC6C2AA34AD}" type="sibTrans" cxnId="{4EF6E0CA-FCE2-471C-81A1-D7641785697A}">
      <dgm:prSet/>
      <dgm:spPr/>
      <dgm:t>
        <a:bodyPr/>
        <a:lstStyle/>
        <a:p>
          <a:endParaRPr lang="en-ID"/>
        </a:p>
      </dgm:t>
    </dgm:pt>
    <dgm:pt modelId="{D669133F-6F29-4549-8B91-6D1F71BF1E53}">
      <dgm:prSet phldrT="[Text]" phldr="0" custT="1"/>
      <dgm:spPr/>
      <dgm:t>
        <a:bodyPr/>
        <a:lstStyle/>
        <a:p>
          <a:r>
            <a:rPr lang="en-ID" sz="1400" dirty="0">
              <a:hlinkClick xmlns:r="http://schemas.openxmlformats.org/officeDocument/2006/relationships" r:id="rId1"/>
            </a:rPr>
            <a:t>(https://www.ebi.ac.uk/gxa/experiments/E-MTAB-9479/Experiment%20Design</a:t>
          </a:r>
          <a:r>
            <a:rPr lang="en-ID" sz="1400" dirty="0"/>
            <a:t>). </a:t>
          </a:r>
        </a:p>
      </dgm:t>
    </dgm:pt>
    <dgm:pt modelId="{75C8B20A-4A23-4870-AD61-9015AC55696A}" type="parTrans" cxnId="{B77652CC-B8C3-498C-9220-574F0B23B9A4}">
      <dgm:prSet/>
      <dgm:spPr/>
      <dgm:t>
        <a:bodyPr/>
        <a:lstStyle/>
        <a:p>
          <a:endParaRPr lang="en-ID"/>
        </a:p>
      </dgm:t>
    </dgm:pt>
    <dgm:pt modelId="{CAB21470-18E5-425A-A802-DEFE5043F6E9}" type="sibTrans" cxnId="{B77652CC-B8C3-498C-9220-574F0B23B9A4}">
      <dgm:prSet/>
      <dgm:spPr/>
      <dgm:t>
        <a:bodyPr/>
        <a:lstStyle/>
        <a:p>
          <a:endParaRPr lang="en-ID"/>
        </a:p>
      </dgm:t>
    </dgm:pt>
    <dgm:pt modelId="{28C95136-F6CB-4B01-A37F-B81133B9B213}">
      <dgm:prSet phldrT="[Text]" phldr="0" custT="1"/>
      <dgm:spPr/>
      <dgm:t>
        <a:bodyPr/>
        <a:lstStyle/>
        <a:p>
          <a:r>
            <a:rPr lang="en-ID" sz="1400" dirty="0"/>
            <a:t>Adjustment p-value &lt; 0.05 , log2 fold change &gt; 2 for upregulated gene, and log2 fold change &lt; 0.5 for downregulated gene.</a:t>
          </a:r>
        </a:p>
      </dgm:t>
    </dgm:pt>
    <dgm:pt modelId="{0AAE44BC-DF39-48F5-B1F2-D1D9F1038058}" type="parTrans" cxnId="{DEE2F0AC-0107-4ABA-92E3-CE6CE0E062A7}">
      <dgm:prSet/>
      <dgm:spPr/>
      <dgm:t>
        <a:bodyPr/>
        <a:lstStyle/>
        <a:p>
          <a:endParaRPr lang="en-ID"/>
        </a:p>
      </dgm:t>
    </dgm:pt>
    <dgm:pt modelId="{03098CF4-9337-4524-AEC0-4880CF1218E7}" type="sibTrans" cxnId="{DEE2F0AC-0107-4ABA-92E3-CE6CE0E062A7}">
      <dgm:prSet/>
      <dgm:spPr/>
      <dgm:t>
        <a:bodyPr/>
        <a:lstStyle/>
        <a:p>
          <a:endParaRPr lang="en-ID"/>
        </a:p>
      </dgm:t>
    </dgm:pt>
    <dgm:pt modelId="{E760BD82-BD46-4715-8631-13EE4F34E71E}">
      <dgm:prSet phldrT="[Text]" phldr="0" custT="1"/>
      <dgm:spPr/>
      <dgm:t>
        <a:bodyPr/>
        <a:lstStyle/>
        <a:p>
          <a:r>
            <a:rPr lang="en-US" sz="1400" dirty="0"/>
            <a:t>Pick top 10 core genes</a:t>
          </a:r>
          <a:endParaRPr lang="en-ID" sz="1400" dirty="0"/>
        </a:p>
      </dgm:t>
    </dgm:pt>
    <dgm:pt modelId="{32D80047-3C64-4954-8D6B-4346926B4721}" type="parTrans" cxnId="{369B7C53-3644-4373-A311-6F24743C48B5}">
      <dgm:prSet/>
      <dgm:spPr/>
      <dgm:t>
        <a:bodyPr/>
        <a:lstStyle/>
        <a:p>
          <a:endParaRPr lang="en-ID"/>
        </a:p>
      </dgm:t>
    </dgm:pt>
    <dgm:pt modelId="{D349276F-7612-4364-80A8-912E85D7DFA6}" type="sibTrans" cxnId="{369B7C53-3644-4373-A311-6F24743C48B5}">
      <dgm:prSet/>
      <dgm:spPr/>
      <dgm:t>
        <a:bodyPr/>
        <a:lstStyle/>
        <a:p>
          <a:endParaRPr lang="en-ID"/>
        </a:p>
      </dgm:t>
    </dgm:pt>
    <dgm:pt modelId="{1374CE5F-7BD0-409E-A686-CB1C9CD45F0C}">
      <dgm:prSet phldrT="[Text]" phldr="0" custT="1"/>
      <dgm:spPr/>
      <dgm:t>
        <a:bodyPr/>
        <a:lstStyle/>
        <a:p>
          <a:r>
            <a:rPr lang="en-US" sz="1600" b="1" dirty="0"/>
            <a:t>Data Wrangling</a:t>
          </a:r>
          <a:endParaRPr lang="en-ID" sz="1600" b="1" dirty="0"/>
        </a:p>
      </dgm:t>
    </dgm:pt>
    <dgm:pt modelId="{24592C78-83AE-4BAF-95DF-C2776D681133}" type="parTrans" cxnId="{20A6CB35-F659-4C41-B068-C294C21670D3}">
      <dgm:prSet/>
      <dgm:spPr/>
      <dgm:t>
        <a:bodyPr/>
        <a:lstStyle/>
        <a:p>
          <a:endParaRPr lang="en-ID"/>
        </a:p>
      </dgm:t>
    </dgm:pt>
    <dgm:pt modelId="{C55A58BC-1233-4B0F-8FC2-5516FC35548E}" type="sibTrans" cxnId="{20A6CB35-F659-4C41-B068-C294C21670D3}">
      <dgm:prSet/>
      <dgm:spPr/>
      <dgm:t>
        <a:bodyPr/>
        <a:lstStyle/>
        <a:p>
          <a:endParaRPr lang="en-ID"/>
        </a:p>
      </dgm:t>
    </dgm:pt>
    <dgm:pt modelId="{0D29E5B6-B4FC-4A9F-9420-A426FB815D7A}">
      <dgm:prSet phldrT="[Text]" phldr="0" custT="1"/>
      <dgm:spPr/>
      <dgm:t>
        <a:bodyPr/>
        <a:lstStyle/>
        <a:p>
          <a:r>
            <a:rPr lang="en-US" sz="1600" b="1" dirty="0"/>
            <a:t>GO Enrichment and KEGG Pathway Analysis</a:t>
          </a:r>
          <a:endParaRPr lang="en-ID" sz="1600" b="1" dirty="0"/>
        </a:p>
      </dgm:t>
    </dgm:pt>
    <dgm:pt modelId="{B64EFD36-44CA-46C1-83B0-E9CD72622162}" type="parTrans" cxnId="{3A9F99D0-5DC4-4866-835F-7AF6E79F298A}">
      <dgm:prSet/>
      <dgm:spPr/>
      <dgm:t>
        <a:bodyPr/>
        <a:lstStyle/>
        <a:p>
          <a:endParaRPr lang="en-ID"/>
        </a:p>
      </dgm:t>
    </dgm:pt>
    <dgm:pt modelId="{41B9B970-80ED-4C56-8953-B856EFA1A44D}" type="sibTrans" cxnId="{3A9F99D0-5DC4-4866-835F-7AF6E79F298A}">
      <dgm:prSet/>
      <dgm:spPr/>
      <dgm:t>
        <a:bodyPr/>
        <a:lstStyle/>
        <a:p>
          <a:endParaRPr lang="en-ID"/>
        </a:p>
      </dgm:t>
    </dgm:pt>
    <dgm:pt modelId="{D06BD3AF-E7F4-49F9-9B28-F4149041AD1F}">
      <dgm:prSet custT="1"/>
      <dgm:spPr/>
      <dgm:t>
        <a:bodyPr/>
        <a:lstStyle/>
        <a:p>
          <a:r>
            <a:rPr lang="en-US" sz="1400" dirty="0"/>
            <a:t>Separate count data and metadata.</a:t>
          </a:r>
          <a:endParaRPr lang="en-ID" sz="1400" dirty="0"/>
        </a:p>
      </dgm:t>
    </dgm:pt>
    <dgm:pt modelId="{A1C63B1A-A5F7-4693-8BC1-7FB4216EE9BB}" type="parTrans" cxnId="{C0193D2F-501F-4F1F-A4AC-E8F71CA08B07}">
      <dgm:prSet/>
      <dgm:spPr/>
      <dgm:t>
        <a:bodyPr/>
        <a:lstStyle/>
        <a:p>
          <a:endParaRPr lang="en-ID"/>
        </a:p>
      </dgm:t>
    </dgm:pt>
    <dgm:pt modelId="{97FBDC64-D832-4ECE-AD5E-C3443013798D}" type="sibTrans" cxnId="{C0193D2F-501F-4F1F-A4AC-E8F71CA08B07}">
      <dgm:prSet/>
      <dgm:spPr/>
      <dgm:t>
        <a:bodyPr/>
        <a:lstStyle/>
        <a:p>
          <a:endParaRPr lang="en-ID"/>
        </a:p>
      </dgm:t>
    </dgm:pt>
    <dgm:pt modelId="{9125A6A0-81AF-49C6-926C-E652664EC30B}">
      <dgm:prSet/>
      <dgm:spPr/>
      <dgm:t>
        <a:bodyPr/>
        <a:lstStyle/>
        <a:p>
          <a:endParaRPr lang="en-ID" sz="1200" dirty="0"/>
        </a:p>
      </dgm:t>
    </dgm:pt>
    <dgm:pt modelId="{1BD09055-9843-4FE8-A7D7-0DB83D5E7BCE}" type="parTrans" cxnId="{287EB0A8-D38C-44DE-823E-AB8417461E6C}">
      <dgm:prSet/>
      <dgm:spPr/>
      <dgm:t>
        <a:bodyPr/>
        <a:lstStyle/>
        <a:p>
          <a:endParaRPr lang="en-ID"/>
        </a:p>
      </dgm:t>
    </dgm:pt>
    <dgm:pt modelId="{34D1B8E6-4769-4837-8BE2-F30D8C4297E5}" type="sibTrans" cxnId="{287EB0A8-D38C-44DE-823E-AB8417461E6C}">
      <dgm:prSet/>
      <dgm:spPr/>
      <dgm:t>
        <a:bodyPr/>
        <a:lstStyle/>
        <a:p>
          <a:endParaRPr lang="en-ID"/>
        </a:p>
      </dgm:t>
    </dgm:pt>
    <dgm:pt modelId="{DF6813BF-C937-42A9-8701-19B69FEA2E07}">
      <dgm:prSet custT="1"/>
      <dgm:spPr/>
      <dgm:t>
        <a:bodyPr/>
        <a:lstStyle/>
        <a:p>
          <a:r>
            <a:rPr lang="en-US" sz="1400" dirty="0"/>
            <a:t>Remove NA</a:t>
          </a:r>
          <a:endParaRPr lang="en-ID" sz="1400" dirty="0"/>
        </a:p>
      </dgm:t>
    </dgm:pt>
    <dgm:pt modelId="{16CE7F64-D642-41F9-A32C-E487BBB7544D}" type="parTrans" cxnId="{BD826CAF-EB28-4BE5-82BB-07D77732EDAA}">
      <dgm:prSet/>
      <dgm:spPr/>
      <dgm:t>
        <a:bodyPr/>
        <a:lstStyle/>
        <a:p>
          <a:endParaRPr lang="en-ID"/>
        </a:p>
      </dgm:t>
    </dgm:pt>
    <dgm:pt modelId="{80657C91-A3ED-43C0-91DE-0B590AE3717D}" type="sibTrans" cxnId="{BD826CAF-EB28-4BE5-82BB-07D77732EDAA}">
      <dgm:prSet/>
      <dgm:spPr/>
      <dgm:t>
        <a:bodyPr/>
        <a:lstStyle/>
        <a:p>
          <a:endParaRPr lang="en-ID"/>
        </a:p>
      </dgm:t>
    </dgm:pt>
    <dgm:pt modelId="{97CD12DF-FF92-463D-ABAF-2C2AC3410C07}">
      <dgm:prSet phldrT="[Text]" phldr="0" custT="1"/>
      <dgm:spPr/>
      <dgm:t>
        <a:bodyPr/>
        <a:lstStyle/>
        <a:p>
          <a:r>
            <a:rPr lang="en-US" sz="1400" dirty="0"/>
            <a:t>KEGG pathway build with DAVID</a:t>
          </a:r>
          <a:endParaRPr lang="en-ID" sz="1400" dirty="0"/>
        </a:p>
      </dgm:t>
    </dgm:pt>
    <dgm:pt modelId="{34F538EF-867D-428D-A2B3-67409403A81B}" type="parTrans" cxnId="{38B33447-3532-4759-9910-DAEEE4C358E9}">
      <dgm:prSet/>
      <dgm:spPr/>
      <dgm:t>
        <a:bodyPr/>
        <a:lstStyle/>
        <a:p>
          <a:endParaRPr lang="en-ID"/>
        </a:p>
      </dgm:t>
    </dgm:pt>
    <dgm:pt modelId="{BF456AE8-74C6-4EE1-BFAE-295CC2DBF6A1}" type="sibTrans" cxnId="{38B33447-3532-4759-9910-DAEEE4C358E9}">
      <dgm:prSet/>
      <dgm:spPr/>
      <dgm:t>
        <a:bodyPr/>
        <a:lstStyle/>
        <a:p>
          <a:endParaRPr lang="en-ID"/>
        </a:p>
      </dgm:t>
    </dgm:pt>
    <dgm:pt modelId="{C582DE52-A7CE-4227-B25C-1EC7E9EF5F47}">
      <dgm:prSet phldrT="[Text]" phldr="0"/>
      <dgm:spPr/>
      <dgm:t>
        <a:bodyPr/>
        <a:lstStyle/>
        <a:p>
          <a:endParaRPr lang="en-ID" sz="1200" dirty="0"/>
        </a:p>
      </dgm:t>
    </dgm:pt>
    <dgm:pt modelId="{B151F068-A62C-4C27-9138-8450833653C2}" type="parTrans" cxnId="{91AADBEA-BBA2-4000-877E-3875F43B2DB1}">
      <dgm:prSet/>
      <dgm:spPr/>
      <dgm:t>
        <a:bodyPr/>
        <a:lstStyle/>
        <a:p>
          <a:endParaRPr lang="en-ID"/>
        </a:p>
      </dgm:t>
    </dgm:pt>
    <dgm:pt modelId="{BE58A10B-4EAC-4BFD-B5B2-2B7EF1BEADF1}" type="sibTrans" cxnId="{91AADBEA-BBA2-4000-877E-3875F43B2DB1}">
      <dgm:prSet/>
      <dgm:spPr/>
      <dgm:t>
        <a:bodyPr/>
        <a:lstStyle/>
        <a:p>
          <a:endParaRPr lang="en-ID"/>
        </a:p>
      </dgm:t>
    </dgm:pt>
    <dgm:pt modelId="{6EBC177E-F2A8-4074-BDBC-E029259C15FC}">
      <dgm:prSet phldrT="[Text]" phldr="0" custT="1"/>
      <dgm:spPr/>
      <dgm:t>
        <a:bodyPr/>
        <a:lstStyle/>
        <a:p>
          <a:endParaRPr lang="en-ID" sz="1400" dirty="0"/>
        </a:p>
      </dgm:t>
    </dgm:pt>
    <dgm:pt modelId="{69565F14-9F37-4DD8-B803-B13F7C701132}" type="parTrans" cxnId="{068143F1-6398-4DC8-A1BD-1289D1EFE6B1}">
      <dgm:prSet/>
      <dgm:spPr/>
      <dgm:t>
        <a:bodyPr/>
        <a:lstStyle/>
        <a:p>
          <a:endParaRPr lang="en-ID"/>
        </a:p>
      </dgm:t>
    </dgm:pt>
    <dgm:pt modelId="{CC7B76E2-872E-4015-9482-B553A7268412}" type="sibTrans" cxnId="{068143F1-6398-4DC8-A1BD-1289D1EFE6B1}">
      <dgm:prSet/>
      <dgm:spPr/>
      <dgm:t>
        <a:bodyPr/>
        <a:lstStyle/>
        <a:p>
          <a:endParaRPr lang="en-ID"/>
        </a:p>
      </dgm:t>
    </dgm:pt>
    <dgm:pt modelId="{4012E10F-CB50-418F-98BD-39557743FE9A}" type="pres">
      <dgm:prSet presAssocID="{D8BA5DE4-FB6C-409D-8ECC-50A76C9F778D}" presName="Name0" presStyleCnt="0">
        <dgm:presLayoutVars>
          <dgm:dir/>
          <dgm:animLvl val="lvl"/>
          <dgm:resizeHandles val="exact"/>
        </dgm:presLayoutVars>
      </dgm:prSet>
      <dgm:spPr/>
    </dgm:pt>
    <dgm:pt modelId="{7C4A0EFA-B5C4-4822-9028-69EA9809B3A5}" type="pres">
      <dgm:prSet presAssocID="{D8BA5DE4-FB6C-409D-8ECC-50A76C9F778D}" presName="tSp" presStyleCnt="0"/>
      <dgm:spPr/>
    </dgm:pt>
    <dgm:pt modelId="{42F376F0-7EF8-4C8C-A3A6-DB276AC4BCC8}" type="pres">
      <dgm:prSet presAssocID="{D8BA5DE4-FB6C-409D-8ECC-50A76C9F778D}" presName="bSp" presStyleCnt="0"/>
      <dgm:spPr/>
    </dgm:pt>
    <dgm:pt modelId="{5B0163EA-11C9-4440-9FD3-92DE378F12BC}" type="pres">
      <dgm:prSet presAssocID="{D8BA5DE4-FB6C-409D-8ECC-50A76C9F778D}" presName="process" presStyleCnt="0"/>
      <dgm:spPr/>
    </dgm:pt>
    <dgm:pt modelId="{8C65031D-FD24-4778-BC48-FF1307BB3F7E}" type="pres">
      <dgm:prSet presAssocID="{3D353D27-8450-4E52-8DB5-5AAE79A9BDD1}" presName="composite1" presStyleCnt="0"/>
      <dgm:spPr/>
    </dgm:pt>
    <dgm:pt modelId="{7DEB217F-9DCE-4292-9480-28417F5975A9}" type="pres">
      <dgm:prSet presAssocID="{3D353D27-8450-4E52-8DB5-5AAE79A9BDD1}" presName="dummyNode1" presStyleLbl="node1" presStyleIdx="0" presStyleCnt="4"/>
      <dgm:spPr/>
    </dgm:pt>
    <dgm:pt modelId="{95E071AE-7919-4CDB-ADEF-3FAD18C43CA3}" type="pres">
      <dgm:prSet presAssocID="{3D353D27-8450-4E52-8DB5-5AAE79A9BDD1}" presName="childNode1" presStyleLbl="bgAcc1" presStyleIdx="0" presStyleCnt="4" custScaleX="135873" custScaleY="113542" custLinFactNeighborX="1373" custLinFactNeighborY="-555">
        <dgm:presLayoutVars>
          <dgm:bulletEnabled val="1"/>
        </dgm:presLayoutVars>
      </dgm:prSet>
      <dgm:spPr/>
    </dgm:pt>
    <dgm:pt modelId="{45B99F5F-D87F-4913-8ADD-7CC7D3ED27E8}" type="pres">
      <dgm:prSet presAssocID="{3D353D27-8450-4E52-8DB5-5AAE79A9BDD1}" presName="childNode1tx" presStyleLbl="bgAcc1" presStyleIdx="0" presStyleCnt="4">
        <dgm:presLayoutVars>
          <dgm:bulletEnabled val="1"/>
        </dgm:presLayoutVars>
      </dgm:prSet>
      <dgm:spPr/>
    </dgm:pt>
    <dgm:pt modelId="{2C0B142A-984D-4597-9D85-F03AB29BFC3C}" type="pres">
      <dgm:prSet presAssocID="{3D353D27-8450-4E52-8DB5-5AAE79A9BDD1}" presName="parentNode1" presStyleLbl="node1" presStyleIdx="0" presStyleCnt="4" custLinFactNeighborX="24518" custLinFactNeighborY="49910">
        <dgm:presLayoutVars>
          <dgm:chMax val="1"/>
          <dgm:bulletEnabled val="1"/>
        </dgm:presLayoutVars>
      </dgm:prSet>
      <dgm:spPr/>
    </dgm:pt>
    <dgm:pt modelId="{33FDC745-2AD8-4708-A879-C22C5ED154B0}" type="pres">
      <dgm:prSet presAssocID="{3D353D27-8450-4E52-8DB5-5AAE79A9BDD1}" presName="connSite1" presStyleCnt="0"/>
      <dgm:spPr/>
    </dgm:pt>
    <dgm:pt modelId="{5D004A1D-F318-45E9-9FFE-78DB99031365}" type="pres">
      <dgm:prSet presAssocID="{61A484C9-DAB0-463D-AC12-6BBEEC676E82}" presName="Name9" presStyleLbl="sibTrans2D1" presStyleIdx="0" presStyleCnt="3"/>
      <dgm:spPr/>
    </dgm:pt>
    <dgm:pt modelId="{2399AB22-44AB-4F79-989A-576B5D4BBA7A}" type="pres">
      <dgm:prSet presAssocID="{1374CE5F-7BD0-409E-A686-CB1C9CD45F0C}" presName="composite2" presStyleCnt="0"/>
      <dgm:spPr/>
    </dgm:pt>
    <dgm:pt modelId="{B40AA992-0D6C-4739-B47A-4EC25C1E2BA3}" type="pres">
      <dgm:prSet presAssocID="{1374CE5F-7BD0-409E-A686-CB1C9CD45F0C}" presName="dummyNode2" presStyleLbl="node1" presStyleIdx="0" presStyleCnt="4"/>
      <dgm:spPr/>
    </dgm:pt>
    <dgm:pt modelId="{BC7B302C-2117-4DF6-9E1B-19DC11C129F6}" type="pres">
      <dgm:prSet presAssocID="{1374CE5F-7BD0-409E-A686-CB1C9CD45F0C}" presName="childNode2" presStyleLbl="bgAcc1" presStyleIdx="1" presStyleCnt="4">
        <dgm:presLayoutVars>
          <dgm:bulletEnabled val="1"/>
        </dgm:presLayoutVars>
      </dgm:prSet>
      <dgm:spPr/>
    </dgm:pt>
    <dgm:pt modelId="{FF2CB8C3-8665-4F7A-BC1A-E01750EDE8F1}" type="pres">
      <dgm:prSet presAssocID="{1374CE5F-7BD0-409E-A686-CB1C9CD45F0C}" presName="childNode2tx" presStyleLbl="bgAcc1" presStyleIdx="1" presStyleCnt="4">
        <dgm:presLayoutVars>
          <dgm:bulletEnabled val="1"/>
        </dgm:presLayoutVars>
      </dgm:prSet>
      <dgm:spPr/>
    </dgm:pt>
    <dgm:pt modelId="{45E487AE-2894-4E12-BD8A-7CAA5130339A}" type="pres">
      <dgm:prSet presAssocID="{1374CE5F-7BD0-409E-A686-CB1C9CD45F0C}" presName="parentNode2" presStyleLbl="node1" presStyleIdx="1" presStyleCnt="4">
        <dgm:presLayoutVars>
          <dgm:chMax val="0"/>
          <dgm:bulletEnabled val="1"/>
        </dgm:presLayoutVars>
      </dgm:prSet>
      <dgm:spPr/>
    </dgm:pt>
    <dgm:pt modelId="{E2F1622C-C1DC-4908-9084-DAD70EF4F463}" type="pres">
      <dgm:prSet presAssocID="{1374CE5F-7BD0-409E-A686-CB1C9CD45F0C}" presName="connSite2" presStyleCnt="0"/>
      <dgm:spPr/>
    </dgm:pt>
    <dgm:pt modelId="{6CAE4B23-AF0F-472D-8097-FB28693DCC67}" type="pres">
      <dgm:prSet presAssocID="{C55A58BC-1233-4B0F-8FC2-5516FC35548E}" presName="Name18" presStyleLbl="sibTrans2D1" presStyleIdx="1" presStyleCnt="3"/>
      <dgm:spPr/>
    </dgm:pt>
    <dgm:pt modelId="{DBFE57A3-5032-4177-B4D0-413F0F1A6ADB}" type="pres">
      <dgm:prSet presAssocID="{F472E5AC-9E03-41D7-A984-C65E833CD4E7}" presName="composite1" presStyleCnt="0"/>
      <dgm:spPr/>
    </dgm:pt>
    <dgm:pt modelId="{A16F2EEA-5A6C-4DED-8789-D72245E86BB5}" type="pres">
      <dgm:prSet presAssocID="{F472E5AC-9E03-41D7-A984-C65E833CD4E7}" presName="dummyNode1" presStyleLbl="node1" presStyleIdx="1" presStyleCnt="4"/>
      <dgm:spPr/>
    </dgm:pt>
    <dgm:pt modelId="{DFDA65D0-A195-4601-B177-E723ACC32877}" type="pres">
      <dgm:prSet presAssocID="{F472E5AC-9E03-41D7-A984-C65E833CD4E7}" presName="childNode1" presStyleLbl="bgAcc1" presStyleIdx="2" presStyleCnt="4" custScaleX="143098" custScaleY="121767">
        <dgm:presLayoutVars>
          <dgm:bulletEnabled val="1"/>
        </dgm:presLayoutVars>
      </dgm:prSet>
      <dgm:spPr/>
    </dgm:pt>
    <dgm:pt modelId="{1FE4BD4A-BEB6-43DE-BCFE-6A2E982952B5}" type="pres">
      <dgm:prSet presAssocID="{F472E5AC-9E03-41D7-A984-C65E833CD4E7}" presName="childNode1tx" presStyleLbl="bgAcc1" presStyleIdx="2" presStyleCnt="4">
        <dgm:presLayoutVars>
          <dgm:bulletEnabled val="1"/>
        </dgm:presLayoutVars>
      </dgm:prSet>
      <dgm:spPr/>
    </dgm:pt>
    <dgm:pt modelId="{CA3EA851-5B93-480D-B519-BF277F483C3A}" type="pres">
      <dgm:prSet presAssocID="{F472E5AC-9E03-41D7-A984-C65E833CD4E7}" presName="parentNode1" presStyleLbl="node1" presStyleIdx="2" presStyleCnt="4" custLinFactNeighborX="18652" custLinFactNeighborY="67134">
        <dgm:presLayoutVars>
          <dgm:chMax val="1"/>
          <dgm:bulletEnabled val="1"/>
        </dgm:presLayoutVars>
      </dgm:prSet>
      <dgm:spPr/>
    </dgm:pt>
    <dgm:pt modelId="{E4D27913-9674-4744-BB72-D8B65C7BCA3D}" type="pres">
      <dgm:prSet presAssocID="{F472E5AC-9E03-41D7-A984-C65E833CD4E7}" presName="connSite1" presStyleCnt="0"/>
      <dgm:spPr/>
    </dgm:pt>
    <dgm:pt modelId="{6B5BBCD2-0908-4B40-A628-0F92DE580704}" type="pres">
      <dgm:prSet presAssocID="{C46AC43E-B30C-4BF6-9377-394D11A85840}" presName="Name9" presStyleLbl="sibTrans2D1" presStyleIdx="2" presStyleCnt="3"/>
      <dgm:spPr/>
    </dgm:pt>
    <dgm:pt modelId="{9FAD036D-6327-418E-B784-7AA284A9F9F1}" type="pres">
      <dgm:prSet presAssocID="{0D29E5B6-B4FC-4A9F-9420-A426FB815D7A}" presName="composite2" presStyleCnt="0"/>
      <dgm:spPr/>
    </dgm:pt>
    <dgm:pt modelId="{A0F658C4-ABB3-4F26-B289-2A36CF3F5797}" type="pres">
      <dgm:prSet presAssocID="{0D29E5B6-B4FC-4A9F-9420-A426FB815D7A}" presName="dummyNode2" presStyleLbl="node1" presStyleIdx="2" presStyleCnt="4"/>
      <dgm:spPr/>
    </dgm:pt>
    <dgm:pt modelId="{028A93C7-000A-408E-95CD-4204B9637F0C}" type="pres">
      <dgm:prSet presAssocID="{0D29E5B6-B4FC-4A9F-9420-A426FB815D7A}" presName="childNode2" presStyleLbl="bgAcc1" presStyleIdx="3" presStyleCnt="4" custScaleY="110299">
        <dgm:presLayoutVars>
          <dgm:bulletEnabled val="1"/>
        </dgm:presLayoutVars>
      </dgm:prSet>
      <dgm:spPr/>
    </dgm:pt>
    <dgm:pt modelId="{4FD20D1D-B664-4D80-A0F4-4F9CD480AD3F}" type="pres">
      <dgm:prSet presAssocID="{0D29E5B6-B4FC-4A9F-9420-A426FB815D7A}" presName="childNode2tx" presStyleLbl="bgAcc1" presStyleIdx="3" presStyleCnt="4">
        <dgm:presLayoutVars>
          <dgm:bulletEnabled val="1"/>
        </dgm:presLayoutVars>
      </dgm:prSet>
      <dgm:spPr/>
    </dgm:pt>
    <dgm:pt modelId="{0E37E7EA-4A39-4018-91A4-EE932597F372}" type="pres">
      <dgm:prSet presAssocID="{0D29E5B6-B4FC-4A9F-9420-A426FB815D7A}" presName="parentNode2" presStyleLbl="node1" presStyleIdx="3" presStyleCnt="4" custLinFactNeighborX="767" custLinFactNeighborY="-19647">
        <dgm:presLayoutVars>
          <dgm:chMax val="0"/>
          <dgm:bulletEnabled val="1"/>
        </dgm:presLayoutVars>
      </dgm:prSet>
      <dgm:spPr/>
    </dgm:pt>
    <dgm:pt modelId="{C8D6904D-4EEA-4CC6-BDCA-DB499731E0D6}" type="pres">
      <dgm:prSet presAssocID="{0D29E5B6-B4FC-4A9F-9420-A426FB815D7A}" presName="connSite2" presStyleCnt="0"/>
      <dgm:spPr/>
    </dgm:pt>
  </dgm:ptLst>
  <dgm:cxnLst>
    <dgm:cxn modelId="{6216B703-889D-44DF-A4B0-E9B83BD9D1EB}" type="presOf" srcId="{6EBC177E-F2A8-4074-BDBC-E029259C15FC}" destId="{1FE4BD4A-BEB6-43DE-BCFE-6A2E982952B5}" srcOrd="1" destOrd="3" presId="urn:microsoft.com/office/officeart/2005/8/layout/hProcess4"/>
    <dgm:cxn modelId="{9C725C07-FE26-4EC6-83D9-D30FB2B14126}" type="presOf" srcId="{D06BD3AF-E7F4-49F9-9B28-F4149041AD1F}" destId="{FF2CB8C3-8665-4F7A-BC1A-E01750EDE8F1}" srcOrd="1" destOrd="0" presId="urn:microsoft.com/office/officeart/2005/8/layout/hProcess4"/>
    <dgm:cxn modelId="{D16A0E08-AF93-44F3-B616-5F25E488B331}" type="presOf" srcId="{0D29E5B6-B4FC-4A9F-9420-A426FB815D7A}" destId="{0E37E7EA-4A39-4018-91A4-EE932597F372}" srcOrd="0" destOrd="0" presId="urn:microsoft.com/office/officeart/2005/8/layout/hProcess4"/>
    <dgm:cxn modelId="{8A1DEE12-DD27-4933-BED1-084B9C7EF4D4}" type="presOf" srcId="{E760BD82-BD46-4715-8631-13EE4F34E71E}" destId="{DFDA65D0-A195-4601-B177-E723ACC32877}" srcOrd="0" destOrd="2" presId="urn:microsoft.com/office/officeart/2005/8/layout/hProcess4"/>
    <dgm:cxn modelId="{8C0AAC14-99E9-475F-81DC-4AD15BDB8D27}" type="presOf" srcId="{C55A58BC-1233-4B0F-8FC2-5516FC35548E}" destId="{6CAE4B23-AF0F-472D-8097-FB28693DCC67}" srcOrd="0" destOrd="0" presId="urn:microsoft.com/office/officeart/2005/8/layout/hProcess4"/>
    <dgm:cxn modelId="{0A45A31A-DB21-4C9A-8B08-BDFED32CD324}" type="presOf" srcId="{D669133F-6F29-4549-8B91-6D1F71BF1E53}" destId="{45B99F5F-D87F-4913-8ADD-7CC7D3ED27E8}" srcOrd="1" destOrd="1" presId="urn:microsoft.com/office/officeart/2005/8/layout/hProcess4"/>
    <dgm:cxn modelId="{46A8391D-5CE9-4A9B-99BE-114019FDFD46}" srcId="{3D353D27-8450-4E52-8DB5-5AAE79A9BDD1}" destId="{95C0AD9F-EEEC-4723-8227-520D88F9C362}" srcOrd="0" destOrd="0" parTransId="{A09AA9F1-10AB-4444-85C5-E735E133DBB1}" sibTransId="{0F40E9AC-F02F-4A2F-A1A8-32DEA2188B26}"/>
    <dgm:cxn modelId="{C0193D2F-501F-4F1F-A4AC-E8F71CA08B07}" srcId="{1374CE5F-7BD0-409E-A686-CB1C9CD45F0C}" destId="{D06BD3AF-E7F4-49F9-9B28-F4149041AD1F}" srcOrd="0" destOrd="0" parTransId="{A1C63B1A-A5F7-4693-8BC1-7FB4216EE9BB}" sibTransId="{97FBDC64-D832-4ECE-AD5E-C3443013798D}"/>
    <dgm:cxn modelId="{20A6CB35-F659-4C41-B068-C294C21670D3}" srcId="{D8BA5DE4-FB6C-409D-8ECC-50A76C9F778D}" destId="{1374CE5F-7BD0-409E-A686-CB1C9CD45F0C}" srcOrd="1" destOrd="0" parTransId="{24592C78-83AE-4BAF-95DF-C2776D681133}" sibTransId="{C55A58BC-1233-4B0F-8FC2-5516FC35548E}"/>
    <dgm:cxn modelId="{E98C2F36-526A-4D39-AE7E-C9E3E431F9E2}" type="presOf" srcId="{BDC4F6F3-13AD-4530-B5AF-60804F6CBCF1}" destId="{1FE4BD4A-BEB6-43DE-BCFE-6A2E982952B5}" srcOrd="1" destOrd="0" presId="urn:microsoft.com/office/officeart/2005/8/layout/hProcess4"/>
    <dgm:cxn modelId="{67D62039-4136-4B21-82CA-F7E05FE0A41D}" type="presOf" srcId="{28C95136-F6CB-4B01-A37F-B81133B9B213}" destId="{DFDA65D0-A195-4601-B177-E723ACC32877}" srcOrd="0" destOrd="1" presId="urn:microsoft.com/office/officeart/2005/8/layout/hProcess4"/>
    <dgm:cxn modelId="{2175805D-62E5-409C-8738-EDC1626D8E7A}" type="presOf" srcId="{9125A6A0-81AF-49C6-926C-E652664EC30B}" destId="{BC7B302C-2117-4DF6-9E1B-19DC11C129F6}" srcOrd="0" destOrd="2" presId="urn:microsoft.com/office/officeart/2005/8/layout/hProcess4"/>
    <dgm:cxn modelId="{3489F360-6AC3-4D0C-8C37-653C6C8BA6BF}" type="presOf" srcId="{342280FE-404C-4F35-B928-DA468849660C}" destId="{4FD20D1D-B664-4D80-A0F4-4F9CD480AD3F}" srcOrd="1" destOrd="0" presId="urn:microsoft.com/office/officeart/2005/8/layout/hProcess4"/>
    <dgm:cxn modelId="{38B33447-3532-4759-9910-DAEEE4C358E9}" srcId="{0D29E5B6-B4FC-4A9F-9420-A426FB815D7A}" destId="{97CD12DF-FF92-463D-ABAF-2C2AC3410C07}" srcOrd="1" destOrd="0" parTransId="{34F538EF-867D-428D-A2B3-67409403A81B}" sibTransId="{BF456AE8-74C6-4EE1-BFAE-295CC2DBF6A1}"/>
    <dgm:cxn modelId="{DBB5C068-2C11-442E-95B8-3E460C74379A}" type="presOf" srcId="{C582DE52-A7CE-4227-B25C-1EC7E9EF5F47}" destId="{028A93C7-000A-408E-95CD-4204B9637F0C}" srcOrd="0" destOrd="2" presId="urn:microsoft.com/office/officeart/2005/8/layout/hProcess4"/>
    <dgm:cxn modelId="{ED55954D-9E8A-4758-A261-FBAAE3071C5A}" type="presOf" srcId="{61A484C9-DAB0-463D-AC12-6BBEEC676E82}" destId="{5D004A1D-F318-45E9-9FFE-78DB99031365}" srcOrd="0" destOrd="0" presId="urn:microsoft.com/office/officeart/2005/8/layout/hProcess4"/>
    <dgm:cxn modelId="{0EBCB14E-7FC3-4787-9C31-A568DE2BE8E0}" type="presOf" srcId="{9125A6A0-81AF-49C6-926C-E652664EC30B}" destId="{FF2CB8C3-8665-4F7A-BC1A-E01750EDE8F1}" srcOrd="1" destOrd="2" presId="urn:microsoft.com/office/officeart/2005/8/layout/hProcess4"/>
    <dgm:cxn modelId="{6F62644F-EBD2-498C-AA27-95731DF3AD46}" type="presOf" srcId="{97CD12DF-FF92-463D-ABAF-2C2AC3410C07}" destId="{4FD20D1D-B664-4D80-A0F4-4F9CD480AD3F}" srcOrd="1" destOrd="1" presId="urn:microsoft.com/office/officeart/2005/8/layout/hProcess4"/>
    <dgm:cxn modelId="{1AA0AD6F-37E8-4D6B-AEBD-109694047BCC}" type="presOf" srcId="{342280FE-404C-4F35-B928-DA468849660C}" destId="{028A93C7-000A-408E-95CD-4204B9637F0C}" srcOrd="0" destOrd="0" presId="urn:microsoft.com/office/officeart/2005/8/layout/hProcess4"/>
    <dgm:cxn modelId="{A929A851-59AC-4683-B224-44FD479CADFD}" type="presOf" srcId="{C46AC43E-B30C-4BF6-9377-394D11A85840}" destId="{6B5BBCD2-0908-4B40-A628-0F92DE580704}" srcOrd="0" destOrd="0" presId="urn:microsoft.com/office/officeart/2005/8/layout/hProcess4"/>
    <dgm:cxn modelId="{0D6B5C53-F958-4DA3-933B-1E0AB1B50986}" type="presOf" srcId="{6EBC177E-F2A8-4074-BDBC-E029259C15FC}" destId="{DFDA65D0-A195-4601-B177-E723ACC32877}" srcOrd="0" destOrd="3" presId="urn:microsoft.com/office/officeart/2005/8/layout/hProcess4"/>
    <dgm:cxn modelId="{369B7C53-3644-4373-A311-6F24743C48B5}" srcId="{F472E5AC-9E03-41D7-A984-C65E833CD4E7}" destId="{E760BD82-BD46-4715-8631-13EE4F34E71E}" srcOrd="2" destOrd="0" parTransId="{32D80047-3C64-4954-8D6B-4346926B4721}" sibTransId="{D349276F-7612-4364-80A8-912E85D7DFA6}"/>
    <dgm:cxn modelId="{945F5B5A-4B50-45FD-BCD4-024B568E94B4}" type="presOf" srcId="{F472E5AC-9E03-41D7-A984-C65E833CD4E7}" destId="{CA3EA851-5B93-480D-B519-BF277F483C3A}" srcOrd="0" destOrd="0" presId="urn:microsoft.com/office/officeart/2005/8/layout/hProcess4"/>
    <dgm:cxn modelId="{E44DDA7B-BF43-46C9-BF28-9573F4FC993D}" srcId="{F472E5AC-9E03-41D7-A984-C65E833CD4E7}" destId="{BDC4F6F3-13AD-4530-B5AF-60804F6CBCF1}" srcOrd="0" destOrd="0" parTransId="{9E8726F5-F7F1-40F3-95A2-266EE0E3FF49}" sibTransId="{DA870B7D-B390-49ED-A4DF-03451CFCE3EB}"/>
    <dgm:cxn modelId="{F3DF927E-5EB6-41EA-9E52-550487F3C54E}" type="presOf" srcId="{E760BD82-BD46-4715-8631-13EE4F34E71E}" destId="{1FE4BD4A-BEB6-43DE-BCFE-6A2E982952B5}" srcOrd="1" destOrd="2" presId="urn:microsoft.com/office/officeart/2005/8/layout/hProcess4"/>
    <dgm:cxn modelId="{F18FDB80-12A6-4699-A4B7-E3072E7E81F0}" type="presOf" srcId="{DF6813BF-C937-42A9-8701-19B69FEA2E07}" destId="{BC7B302C-2117-4DF6-9E1B-19DC11C129F6}" srcOrd="0" destOrd="1" presId="urn:microsoft.com/office/officeart/2005/8/layout/hProcess4"/>
    <dgm:cxn modelId="{11D16083-E2FB-4C95-888A-894210EC7DBB}" type="presOf" srcId="{D8BA5DE4-FB6C-409D-8ECC-50A76C9F778D}" destId="{4012E10F-CB50-418F-98BD-39557743FE9A}" srcOrd="0" destOrd="0" presId="urn:microsoft.com/office/officeart/2005/8/layout/hProcess4"/>
    <dgm:cxn modelId="{67077C92-B977-4CB1-A89F-0ECF25B18FAD}" srcId="{D8BA5DE4-FB6C-409D-8ECC-50A76C9F778D}" destId="{3D353D27-8450-4E52-8DB5-5AAE79A9BDD1}" srcOrd="0" destOrd="0" parTransId="{475B404C-B6E8-4AFC-AB23-1B019E2CB813}" sibTransId="{61A484C9-DAB0-463D-AC12-6BBEEC676E82}"/>
    <dgm:cxn modelId="{287EB0A8-D38C-44DE-823E-AB8417461E6C}" srcId="{1374CE5F-7BD0-409E-A686-CB1C9CD45F0C}" destId="{9125A6A0-81AF-49C6-926C-E652664EC30B}" srcOrd="2" destOrd="0" parTransId="{1BD09055-9843-4FE8-A7D7-0DB83D5E7BCE}" sibTransId="{34D1B8E6-4769-4837-8BE2-F30D8C4297E5}"/>
    <dgm:cxn modelId="{68A206AA-0D77-4129-A4E4-8923594CF1B2}" type="presOf" srcId="{D669133F-6F29-4549-8B91-6D1F71BF1E53}" destId="{95E071AE-7919-4CDB-ADEF-3FAD18C43CA3}" srcOrd="0" destOrd="1" presId="urn:microsoft.com/office/officeart/2005/8/layout/hProcess4"/>
    <dgm:cxn modelId="{DEE2F0AC-0107-4ABA-92E3-CE6CE0E062A7}" srcId="{F472E5AC-9E03-41D7-A984-C65E833CD4E7}" destId="{28C95136-F6CB-4B01-A37F-B81133B9B213}" srcOrd="1" destOrd="0" parTransId="{0AAE44BC-DF39-48F5-B1F2-D1D9F1038058}" sibTransId="{03098CF4-9337-4524-AEC0-4880CF1218E7}"/>
    <dgm:cxn modelId="{20D31FAE-D490-47D9-96D3-1D8312FC42EC}" type="presOf" srcId="{DF6813BF-C937-42A9-8701-19B69FEA2E07}" destId="{FF2CB8C3-8665-4F7A-BC1A-E01750EDE8F1}" srcOrd="1" destOrd="1" presId="urn:microsoft.com/office/officeart/2005/8/layout/hProcess4"/>
    <dgm:cxn modelId="{891C3DAF-68F0-450C-96AD-BBBB2FD513F1}" type="presOf" srcId="{D06BD3AF-E7F4-49F9-9B28-F4149041AD1F}" destId="{BC7B302C-2117-4DF6-9E1B-19DC11C129F6}" srcOrd="0" destOrd="0" presId="urn:microsoft.com/office/officeart/2005/8/layout/hProcess4"/>
    <dgm:cxn modelId="{BD826CAF-EB28-4BE5-82BB-07D77732EDAA}" srcId="{1374CE5F-7BD0-409E-A686-CB1C9CD45F0C}" destId="{DF6813BF-C937-42A9-8701-19B69FEA2E07}" srcOrd="1" destOrd="0" parTransId="{16CE7F64-D642-41F9-A32C-E487BBB7544D}" sibTransId="{80657C91-A3ED-43C0-91DE-0B590AE3717D}"/>
    <dgm:cxn modelId="{63D6F1B2-DACD-4BED-BD9B-50236E8FF26B}" type="presOf" srcId="{C582DE52-A7CE-4227-B25C-1EC7E9EF5F47}" destId="{4FD20D1D-B664-4D80-A0F4-4F9CD480AD3F}" srcOrd="1" destOrd="2" presId="urn:microsoft.com/office/officeart/2005/8/layout/hProcess4"/>
    <dgm:cxn modelId="{AB2083B4-CA62-4995-82BC-4CB88F8D3F4B}" type="presOf" srcId="{95C0AD9F-EEEC-4723-8227-520D88F9C362}" destId="{45B99F5F-D87F-4913-8ADD-7CC7D3ED27E8}" srcOrd="1" destOrd="0" presId="urn:microsoft.com/office/officeart/2005/8/layout/hProcess4"/>
    <dgm:cxn modelId="{EE38FDB5-F41B-40D0-B613-83FDD2345F2F}" srcId="{D8BA5DE4-FB6C-409D-8ECC-50A76C9F778D}" destId="{F472E5AC-9E03-41D7-A984-C65E833CD4E7}" srcOrd="2" destOrd="0" parTransId="{816A5D95-F87F-4BC2-8971-E14D8685D64A}" sibTransId="{C46AC43E-B30C-4BF6-9377-394D11A85840}"/>
    <dgm:cxn modelId="{0651BEC4-286E-4AA8-A335-846CD08E260C}" type="presOf" srcId="{28C95136-F6CB-4B01-A37F-B81133B9B213}" destId="{1FE4BD4A-BEB6-43DE-BCFE-6A2E982952B5}" srcOrd="1" destOrd="1" presId="urn:microsoft.com/office/officeart/2005/8/layout/hProcess4"/>
    <dgm:cxn modelId="{4E3359C5-437A-48B0-B787-02CBC89D0971}" type="presOf" srcId="{97CD12DF-FF92-463D-ABAF-2C2AC3410C07}" destId="{028A93C7-000A-408E-95CD-4204B9637F0C}" srcOrd="0" destOrd="1" presId="urn:microsoft.com/office/officeart/2005/8/layout/hProcess4"/>
    <dgm:cxn modelId="{70F25DC9-ADB6-42AD-B544-1AAA5174D014}" type="presOf" srcId="{3D353D27-8450-4E52-8DB5-5AAE79A9BDD1}" destId="{2C0B142A-984D-4597-9D85-F03AB29BFC3C}" srcOrd="0" destOrd="0" presId="urn:microsoft.com/office/officeart/2005/8/layout/hProcess4"/>
    <dgm:cxn modelId="{4EF6E0CA-FCE2-471C-81A1-D7641785697A}" srcId="{0D29E5B6-B4FC-4A9F-9420-A426FB815D7A}" destId="{342280FE-404C-4F35-B928-DA468849660C}" srcOrd="0" destOrd="0" parTransId="{B05078B0-541F-4CF7-81C5-CB43C2D55CB6}" sibTransId="{A78C6A69-B0F3-4D47-9492-CBC6C2AA34AD}"/>
    <dgm:cxn modelId="{B77652CC-B8C3-498C-9220-574F0B23B9A4}" srcId="{3D353D27-8450-4E52-8DB5-5AAE79A9BDD1}" destId="{D669133F-6F29-4549-8B91-6D1F71BF1E53}" srcOrd="1" destOrd="0" parTransId="{75C8B20A-4A23-4870-AD61-9015AC55696A}" sibTransId="{CAB21470-18E5-425A-A802-DEFE5043F6E9}"/>
    <dgm:cxn modelId="{3A9F99D0-5DC4-4866-835F-7AF6E79F298A}" srcId="{D8BA5DE4-FB6C-409D-8ECC-50A76C9F778D}" destId="{0D29E5B6-B4FC-4A9F-9420-A426FB815D7A}" srcOrd="3" destOrd="0" parTransId="{B64EFD36-44CA-46C1-83B0-E9CD72622162}" sibTransId="{41B9B970-80ED-4C56-8953-B856EFA1A44D}"/>
    <dgm:cxn modelId="{EE7F7ED6-597C-4A83-A0AB-DEACCFB6CBD6}" type="presOf" srcId="{BDC4F6F3-13AD-4530-B5AF-60804F6CBCF1}" destId="{DFDA65D0-A195-4601-B177-E723ACC32877}" srcOrd="0" destOrd="0" presId="urn:microsoft.com/office/officeart/2005/8/layout/hProcess4"/>
    <dgm:cxn modelId="{288E27DE-4A2E-4ECF-99BD-E6CA89B98F5B}" type="presOf" srcId="{95C0AD9F-EEEC-4723-8227-520D88F9C362}" destId="{95E071AE-7919-4CDB-ADEF-3FAD18C43CA3}" srcOrd="0" destOrd="0" presId="urn:microsoft.com/office/officeart/2005/8/layout/hProcess4"/>
    <dgm:cxn modelId="{E7B1B3E4-3099-45E5-85DA-2938CBAAE7F0}" type="presOf" srcId="{1374CE5F-7BD0-409E-A686-CB1C9CD45F0C}" destId="{45E487AE-2894-4E12-BD8A-7CAA5130339A}" srcOrd="0" destOrd="0" presId="urn:microsoft.com/office/officeart/2005/8/layout/hProcess4"/>
    <dgm:cxn modelId="{91AADBEA-BBA2-4000-877E-3875F43B2DB1}" srcId="{0D29E5B6-B4FC-4A9F-9420-A426FB815D7A}" destId="{C582DE52-A7CE-4227-B25C-1EC7E9EF5F47}" srcOrd="2" destOrd="0" parTransId="{B151F068-A62C-4C27-9138-8450833653C2}" sibTransId="{BE58A10B-4EAC-4BFD-B5B2-2B7EF1BEADF1}"/>
    <dgm:cxn modelId="{068143F1-6398-4DC8-A1BD-1289D1EFE6B1}" srcId="{F472E5AC-9E03-41D7-A984-C65E833CD4E7}" destId="{6EBC177E-F2A8-4074-BDBC-E029259C15FC}" srcOrd="3" destOrd="0" parTransId="{69565F14-9F37-4DD8-B803-B13F7C701132}" sibTransId="{CC7B76E2-872E-4015-9482-B553A7268412}"/>
    <dgm:cxn modelId="{36E43C19-E172-4EA0-8B0C-89A0C324BD94}" type="presParOf" srcId="{4012E10F-CB50-418F-98BD-39557743FE9A}" destId="{7C4A0EFA-B5C4-4822-9028-69EA9809B3A5}" srcOrd="0" destOrd="0" presId="urn:microsoft.com/office/officeart/2005/8/layout/hProcess4"/>
    <dgm:cxn modelId="{CEA5E43C-C014-4D29-856B-42BFA33F3E82}" type="presParOf" srcId="{4012E10F-CB50-418F-98BD-39557743FE9A}" destId="{42F376F0-7EF8-4C8C-A3A6-DB276AC4BCC8}" srcOrd="1" destOrd="0" presId="urn:microsoft.com/office/officeart/2005/8/layout/hProcess4"/>
    <dgm:cxn modelId="{A504139C-E840-4BD3-AFFD-9864D4E1F673}" type="presParOf" srcId="{4012E10F-CB50-418F-98BD-39557743FE9A}" destId="{5B0163EA-11C9-4440-9FD3-92DE378F12BC}" srcOrd="2" destOrd="0" presId="urn:microsoft.com/office/officeart/2005/8/layout/hProcess4"/>
    <dgm:cxn modelId="{DBF65209-6A97-4170-9510-4D7C653350E2}" type="presParOf" srcId="{5B0163EA-11C9-4440-9FD3-92DE378F12BC}" destId="{8C65031D-FD24-4778-BC48-FF1307BB3F7E}" srcOrd="0" destOrd="0" presId="urn:microsoft.com/office/officeart/2005/8/layout/hProcess4"/>
    <dgm:cxn modelId="{36001A2E-BBF6-4396-A167-626C3E742B16}" type="presParOf" srcId="{8C65031D-FD24-4778-BC48-FF1307BB3F7E}" destId="{7DEB217F-9DCE-4292-9480-28417F5975A9}" srcOrd="0" destOrd="0" presId="urn:microsoft.com/office/officeart/2005/8/layout/hProcess4"/>
    <dgm:cxn modelId="{6891CB1F-2232-4FE4-A632-BBB06E53B1E3}" type="presParOf" srcId="{8C65031D-FD24-4778-BC48-FF1307BB3F7E}" destId="{95E071AE-7919-4CDB-ADEF-3FAD18C43CA3}" srcOrd="1" destOrd="0" presId="urn:microsoft.com/office/officeart/2005/8/layout/hProcess4"/>
    <dgm:cxn modelId="{3197C1B8-395C-4F2B-9288-0689DD93B325}" type="presParOf" srcId="{8C65031D-FD24-4778-BC48-FF1307BB3F7E}" destId="{45B99F5F-D87F-4913-8ADD-7CC7D3ED27E8}" srcOrd="2" destOrd="0" presId="urn:microsoft.com/office/officeart/2005/8/layout/hProcess4"/>
    <dgm:cxn modelId="{9A0FCDDD-70AE-40BD-8797-F6C86079DF2C}" type="presParOf" srcId="{8C65031D-FD24-4778-BC48-FF1307BB3F7E}" destId="{2C0B142A-984D-4597-9D85-F03AB29BFC3C}" srcOrd="3" destOrd="0" presId="urn:microsoft.com/office/officeart/2005/8/layout/hProcess4"/>
    <dgm:cxn modelId="{26A73DCF-2330-470A-AE56-421B039FF0F5}" type="presParOf" srcId="{8C65031D-FD24-4778-BC48-FF1307BB3F7E}" destId="{33FDC745-2AD8-4708-A879-C22C5ED154B0}" srcOrd="4" destOrd="0" presId="urn:microsoft.com/office/officeart/2005/8/layout/hProcess4"/>
    <dgm:cxn modelId="{C896910B-EBED-40C0-BEDA-672B69363E75}" type="presParOf" srcId="{5B0163EA-11C9-4440-9FD3-92DE378F12BC}" destId="{5D004A1D-F318-45E9-9FFE-78DB99031365}" srcOrd="1" destOrd="0" presId="urn:microsoft.com/office/officeart/2005/8/layout/hProcess4"/>
    <dgm:cxn modelId="{6517B31E-4053-4065-9B57-F2CBE6EE9EC4}" type="presParOf" srcId="{5B0163EA-11C9-4440-9FD3-92DE378F12BC}" destId="{2399AB22-44AB-4F79-989A-576B5D4BBA7A}" srcOrd="2" destOrd="0" presId="urn:microsoft.com/office/officeart/2005/8/layout/hProcess4"/>
    <dgm:cxn modelId="{39FF42B8-E121-4389-B993-5C087AFC4FA5}" type="presParOf" srcId="{2399AB22-44AB-4F79-989A-576B5D4BBA7A}" destId="{B40AA992-0D6C-4739-B47A-4EC25C1E2BA3}" srcOrd="0" destOrd="0" presId="urn:microsoft.com/office/officeart/2005/8/layout/hProcess4"/>
    <dgm:cxn modelId="{DC3F51E1-792A-4398-A949-E0858E482F3D}" type="presParOf" srcId="{2399AB22-44AB-4F79-989A-576B5D4BBA7A}" destId="{BC7B302C-2117-4DF6-9E1B-19DC11C129F6}" srcOrd="1" destOrd="0" presId="urn:microsoft.com/office/officeart/2005/8/layout/hProcess4"/>
    <dgm:cxn modelId="{01E5353D-35A0-4BC5-8340-4DF264B23BC2}" type="presParOf" srcId="{2399AB22-44AB-4F79-989A-576B5D4BBA7A}" destId="{FF2CB8C3-8665-4F7A-BC1A-E01750EDE8F1}" srcOrd="2" destOrd="0" presId="urn:microsoft.com/office/officeart/2005/8/layout/hProcess4"/>
    <dgm:cxn modelId="{95B3DE7C-6C39-4EB0-9D1B-B6B5C0330F2B}" type="presParOf" srcId="{2399AB22-44AB-4F79-989A-576B5D4BBA7A}" destId="{45E487AE-2894-4E12-BD8A-7CAA5130339A}" srcOrd="3" destOrd="0" presId="urn:microsoft.com/office/officeart/2005/8/layout/hProcess4"/>
    <dgm:cxn modelId="{C8F26C14-43C9-4D0B-B137-C06DAD1997DB}" type="presParOf" srcId="{2399AB22-44AB-4F79-989A-576B5D4BBA7A}" destId="{E2F1622C-C1DC-4908-9084-DAD70EF4F463}" srcOrd="4" destOrd="0" presId="urn:microsoft.com/office/officeart/2005/8/layout/hProcess4"/>
    <dgm:cxn modelId="{A5C95A6D-DCBF-4110-86AC-0E11A762147E}" type="presParOf" srcId="{5B0163EA-11C9-4440-9FD3-92DE378F12BC}" destId="{6CAE4B23-AF0F-472D-8097-FB28693DCC67}" srcOrd="3" destOrd="0" presId="urn:microsoft.com/office/officeart/2005/8/layout/hProcess4"/>
    <dgm:cxn modelId="{0CF65734-EC94-405C-8FE5-200EA9B3014E}" type="presParOf" srcId="{5B0163EA-11C9-4440-9FD3-92DE378F12BC}" destId="{DBFE57A3-5032-4177-B4D0-413F0F1A6ADB}" srcOrd="4" destOrd="0" presId="urn:microsoft.com/office/officeart/2005/8/layout/hProcess4"/>
    <dgm:cxn modelId="{BD33167D-57F3-4C7A-8A51-7769EC72996F}" type="presParOf" srcId="{DBFE57A3-5032-4177-B4D0-413F0F1A6ADB}" destId="{A16F2EEA-5A6C-4DED-8789-D72245E86BB5}" srcOrd="0" destOrd="0" presId="urn:microsoft.com/office/officeart/2005/8/layout/hProcess4"/>
    <dgm:cxn modelId="{84539C72-2CAE-433B-A6B3-F032931D24D2}" type="presParOf" srcId="{DBFE57A3-5032-4177-B4D0-413F0F1A6ADB}" destId="{DFDA65D0-A195-4601-B177-E723ACC32877}" srcOrd="1" destOrd="0" presId="urn:microsoft.com/office/officeart/2005/8/layout/hProcess4"/>
    <dgm:cxn modelId="{862F4E87-F35F-486B-B76E-B4725726E894}" type="presParOf" srcId="{DBFE57A3-5032-4177-B4D0-413F0F1A6ADB}" destId="{1FE4BD4A-BEB6-43DE-BCFE-6A2E982952B5}" srcOrd="2" destOrd="0" presId="urn:microsoft.com/office/officeart/2005/8/layout/hProcess4"/>
    <dgm:cxn modelId="{52D92999-CEA2-4991-9511-5B8A01F11F2F}" type="presParOf" srcId="{DBFE57A3-5032-4177-B4D0-413F0F1A6ADB}" destId="{CA3EA851-5B93-480D-B519-BF277F483C3A}" srcOrd="3" destOrd="0" presId="urn:microsoft.com/office/officeart/2005/8/layout/hProcess4"/>
    <dgm:cxn modelId="{1037476E-1462-4807-B452-651468594287}" type="presParOf" srcId="{DBFE57A3-5032-4177-B4D0-413F0F1A6ADB}" destId="{E4D27913-9674-4744-BB72-D8B65C7BCA3D}" srcOrd="4" destOrd="0" presId="urn:microsoft.com/office/officeart/2005/8/layout/hProcess4"/>
    <dgm:cxn modelId="{0D4F3B8E-1EF8-4B99-8D32-614DCC8B7F9E}" type="presParOf" srcId="{5B0163EA-11C9-4440-9FD3-92DE378F12BC}" destId="{6B5BBCD2-0908-4B40-A628-0F92DE580704}" srcOrd="5" destOrd="0" presId="urn:microsoft.com/office/officeart/2005/8/layout/hProcess4"/>
    <dgm:cxn modelId="{7CA666A8-628F-4D4A-B11F-49F51325D031}" type="presParOf" srcId="{5B0163EA-11C9-4440-9FD3-92DE378F12BC}" destId="{9FAD036D-6327-418E-B784-7AA284A9F9F1}" srcOrd="6" destOrd="0" presId="urn:microsoft.com/office/officeart/2005/8/layout/hProcess4"/>
    <dgm:cxn modelId="{A562680E-CDF5-412E-8E0C-844BC293E2B9}" type="presParOf" srcId="{9FAD036D-6327-418E-B784-7AA284A9F9F1}" destId="{A0F658C4-ABB3-4F26-B289-2A36CF3F5797}" srcOrd="0" destOrd="0" presId="urn:microsoft.com/office/officeart/2005/8/layout/hProcess4"/>
    <dgm:cxn modelId="{0A7AD60C-5A7E-4D44-BE2A-9006C5D05C30}" type="presParOf" srcId="{9FAD036D-6327-418E-B784-7AA284A9F9F1}" destId="{028A93C7-000A-408E-95CD-4204B9637F0C}" srcOrd="1" destOrd="0" presId="urn:microsoft.com/office/officeart/2005/8/layout/hProcess4"/>
    <dgm:cxn modelId="{4A4B3EB0-5031-412A-B551-6E22758767E4}" type="presParOf" srcId="{9FAD036D-6327-418E-B784-7AA284A9F9F1}" destId="{4FD20D1D-B664-4D80-A0F4-4F9CD480AD3F}" srcOrd="2" destOrd="0" presId="urn:microsoft.com/office/officeart/2005/8/layout/hProcess4"/>
    <dgm:cxn modelId="{C7C6DB69-6342-4D9F-9648-28BA7DA8552C}" type="presParOf" srcId="{9FAD036D-6327-418E-B784-7AA284A9F9F1}" destId="{0E37E7EA-4A39-4018-91A4-EE932597F372}" srcOrd="3" destOrd="0" presId="urn:microsoft.com/office/officeart/2005/8/layout/hProcess4"/>
    <dgm:cxn modelId="{A8C45AE9-2062-4130-8857-5E9F97007E07}" type="presParOf" srcId="{9FAD036D-6327-418E-B784-7AA284A9F9F1}" destId="{C8D6904D-4EEA-4CC6-BDCA-DB499731E0D6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E071AE-7919-4CDB-ADEF-3FAD18C43CA3}">
      <dsp:nvSpPr>
        <dsp:cNvPr id="0" name=""/>
        <dsp:cNvSpPr/>
      </dsp:nvSpPr>
      <dsp:spPr>
        <a:xfrm>
          <a:off x="31919" y="1657217"/>
          <a:ext cx="2714783" cy="18711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RNA seq of OC samples obtained from EBI.</a:t>
          </a:r>
          <a:endParaRPr lang="en-ID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D" sz="1400" kern="1200" dirty="0">
              <a:hlinkClick xmlns:r="http://schemas.openxmlformats.org/officeDocument/2006/relationships" r:id="rId1"/>
            </a:rPr>
            <a:t>(https://www.ebi.ac.uk/gxa/experiments/E-MTAB-9479/Experiment%20Design</a:t>
          </a:r>
          <a:r>
            <a:rPr lang="en-ID" sz="1400" kern="1200" dirty="0"/>
            <a:t>). </a:t>
          </a:r>
        </a:p>
      </dsp:txBody>
      <dsp:txXfrm>
        <a:off x="74979" y="1700277"/>
        <a:ext cx="2628663" cy="1384048"/>
      </dsp:txXfrm>
    </dsp:sp>
    <dsp:sp modelId="{5D004A1D-F318-45E9-9FFE-78DB99031365}">
      <dsp:nvSpPr>
        <dsp:cNvPr id="0" name=""/>
        <dsp:cNvSpPr/>
      </dsp:nvSpPr>
      <dsp:spPr>
        <a:xfrm>
          <a:off x="1811464" y="2549582"/>
          <a:ext cx="1950922" cy="1950922"/>
        </a:xfrm>
        <a:prstGeom prst="leftCircularArrow">
          <a:avLst>
            <a:gd name="adj1" fmla="val 3862"/>
            <a:gd name="adj2" fmla="val 483352"/>
            <a:gd name="adj3" fmla="val 1470672"/>
            <a:gd name="adj4" fmla="val 8236299"/>
            <a:gd name="adj5" fmla="val 450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0B142A-984D-4597-9D85-F03AB29BFC3C}">
      <dsp:nvSpPr>
        <dsp:cNvPr id="0" name=""/>
        <dsp:cNvSpPr/>
      </dsp:nvSpPr>
      <dsp:spPr>
        <a:xfrm>
          <a:off x="1242316" y="3425267"/>
          <a:ext cx="1776026" cy="7062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Data Collection</a:t>
          </a:r>
          <a:endParaRPr lang="en-ID" sz="1600" b="1" kern="1200" dirty="0"/>
        </a:p>
      </dsp:txBody>
      <dsp:txXfrm>
        <a:off x="1263002" y="3445953"/>
        <a:ext cx="1734654" cy="664895"/>
      </dsp:txXfrm>
    </dsp:sp>
    <dsp:sp modelId="{BC7B302C-2117-4DF6-9E1B-19DC11C129F6}">
      <dsp:nvSpPr>
        <dsp:cNvPr id="0" name=""/>
        <dsp:cNvSpPr/>
      </dsp:nvSpPr>
      <dsp:spPr>
        <a:xfrm>
          <a:off x="3078045" y="1777149"/>
          <a:ext cx="1998029" cy="16479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Separate count data and metadata.</a:t>
          </a:r>
          <a:endParaRPr lang="en-ID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Remove NA</a:t>
          </a:r>
          <a:endParaRPr lang="en-ID" sz="14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D" sz="1200" kern="1200" dirty="0"/>
        </a:p>
      </dsp:txBody>
      <dsp:txXfrm>
        <a:off x="3115969" y="2168207"/>
        <a:ext cx="1922181" cy="1218975"/>
      </dsp:txXfrm>
    </dsp:sp>
    <dsp:sp modelId="{6CAE4B23-AF0F-472D-8097-FB28693DCC67}">
      <dsp:nvSpPr>
        <dsp:cNvPr id="0" name=""/>
        <dsp:cNvSpPr/>
      </dsp:nvSpPr>
      <dsp:spPr>
        <a:xfrm>
          <a:off x="4143898" y="624171"/>
          <a:ext cx="2998518" cy="2998518"/>
        </a:xfrm>
        <a:prstGeom prst="circularArrow">
          <a:avLst>
            <a:gd name="adj1" fmla="val 2513"/>
            <a:gd name="adj2" fmla="val 304609"/>
            <a:gd name="adj3" fmla="val 19518094"/>
            <a:gd name="adj4" fmla="val 12573724"/>
            <a:gd name="adj5" fmla="val 293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E487AE-2894-4E12-BD8A-7CAA5130339A}">
      <dsp:nvSpPr>
        <dsp:cNvPr id="0" name=""/>
        <dsp:cNvSpPr/>
      </dsp:nvSpPr>
      <dsp:spPr>
        <a:xfrm>
          <a:off x="3522052" y="1424015"/>
          <a:ext cx="1776026" cy="7062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Data Wrangling</a:t>
          </a:r>
          <a:endParaRPr lang="en-ID" sz="1600" b="1" kern="1200" dirty="0"/>
        </a:p>
      </dsp:txBody>
      <dsp:txXfrm>
        <a:off x="3542738" y="1444701"/>
        <a:ext cx="1734654" cy="664895"/>
      </dsp:txXfrm>
    </dsp:sp>
    <dsp:sp modelId="{DFDA65D0-A195-4601-B177-E723ACC32877}">
      <dsp:nvSpPr>
        <dsp:cNvPr id="0" name=""/>
        <dsp:cNvSpPr/>
      </dsp:nvSpPr>
      <dsp:spPr>
        <a:xfrm>
          <a:off x="5656855" y="1599075"/>
          <a:ext cx="2859140" cy="20066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Performed using Deseq2 package R software.</a:t>
          </a:r>
          <a:endParaRPr lang="en-ID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D" sz="1400" kern="1200" dirty="0"/>
            <a:t>Adjustment p-value &lt; 0.05 , log2 fold change &gt; 2 for upregulated gene, and log2 fold change &lt; 0.5 for downregulated gene.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Pick top 10 core genes</a:t>
          </a:r>
          <a:endParaRPr lang="en-ID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D" sz="1400" kern="1200" dirty="0"/>
        </a:p>
      </dsp:txBody>
      <dsp:txXfrm>
        <a:off x="5703034" y="1645254"/>
        <a:ext cx="2766782" cy="1484309"/>
      </dsp:txXfrm>
    </dsp:sp>
    <dsp:sp modelId="{6B5BBCD2-0908-4B40-A628-0F92DE580704}">
      <dsp:nvSpPr>
        <dsp:cNvPr id="0" name=""/>
        <dsp:cNvSpPr/>
      </dsp:nvSpPr>
      <dsp:spPr>
        <a:xfrm>
          <a:off x="7369865" y="2445236"/>
          <a:ext cx="2182199" cy="2182199"/>
        </a:xfrm>
        <a:prstGeom prst="leftCircularArrow">
          <a:avLst>
            <a:gd name="adj1" fmla="val 3453"/>
            <a:gd name="adj2" fmla="val 427906"/>
            <a:gd name="adj3" fmla="val 1261925"/>
            <a:gd name="adj4" fmla="val 8082997"/>
            <a:gd name="adj5" fmla="val 4028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3EA851-5B93-480D-B519-BF277F483C3A}">
      <dsp:nvSpPr>
        <dsp:cNvPr id="0" name=""/>
        <dsp:cNvSpPr/>
      </dsp:nvSpPr>
      <dsp:spPr>
        <a:xfrm>
          <a:off x="6862681" y="3547399"/>
          <a:ext cx="1776026" cy="7062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DEG analysis</a:t>
          </a:r>
          <a:endParaRPr lang="en-ID" sz="1600" b="1" kern="1200" dirty="0"/>
        </a:p>
      </dsp:txBody>
      <dsp:txXfrm>
        <a:off x="6883367" y="3568085"/>
        <a:ext cx="1734654" cy="664895"/>
      </dsp:txXfrm>
    </dsp:sp>
    <dsp:sp modelId="{028A93C7-000A-408E-95CD-4204B9637F0C}">
      <dsp:nvSpPr>
        <dsp:cNvPr id="0" name=""/>
        <dsp:cNvSpPr/>
      </dsp:nvSpPr>
      <dsp:spPr>
        <a:xfrm>
          <a:off x="8874771" y="1691681"/>
          <a:ext cx="1998029" cy="18176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GO Enrichment performed using </a:t>
          </a:r>
          <a:r>
            <a:rPr lang="en-US" sz="1400" kern="1200" dirty="0" err="1"/>
            <a:t>clusterProfile</a:t>
          </a:r>
          <a:r>
            <a:rPr lang="en-US" sz="1400" kern="1200" dirty="0"/>
            <a:t> package R software.</a:t>
          </a:r>
          <a:endParaRPr lang="en-ID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KEGG pathway build with DAVID</a:t>
          </a:r>
          <a:endParaRPr lang="en-ID" sz="14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D" sz="1200" kern="1200" dirty="0"/>
        </a:p>
      </dsp:txBody>
      <dsp:txXfrm>
        <a:off x="8916601" y="2123014"/>
        <a:ext cx="1914369" cy="1344517"/>
      </dsp:txXfrm>
    </dsp:sp>
    <dsp:sp modelId="{0E37E7EA-4A39-4018-91A4-EE932597F372}">
      <dsp:nvSpPr>
        <dsp:cNvPr id="0" name=""/>
        <dsp:cNvSpPr/>
      </dsp:nvSpPr>
      <dsp:spPr>
        <a:xfrm>
          <a:off x="9323265" y="1284649"/>
          <a:ext cx="1776026" cy="7062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GO Enrichment and KEGG Pathway Analysis</a:t>
          </a:r>
          <a:endParaRPr lang="en-ID" sz="1600" b="1" kern="1200" dirty="0"/>
        </a:p>
      </dsp:txBody>
      <dsp:txXfrm>
        <a:off x="9343951" y="1305335"/>
        <a:ext cx="1734654" cy="6648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293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98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33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611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80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77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70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30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82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01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peak Pro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7465" y="2563246"/>
            <a:ext cx="4813072" cy="1408976"/>
          </a:xfrm>
        </p:spPr>
        <p:txBody>
          <a:bodyPr>
            <a:normAutofit fontScale="90000"/>
          </a:bodyPr>
          <a:lstStyle/>
          <a:p>
            <a:pPr algn="just"/>
            <a:r>
              <a:rPr lang="en-ID" sz="2800" b="1" dirty="0">
                <a:latin typeface="Bahnschrift SemiBold" panose="020B0502040204020203" pitchFamily="34" charset="0"/>
              </a:rPr>
              <a:t>DEG EXPLORATION OF BMP SIGNALING FOR OVARIAN CANCER THERAUPETIC AGENT</a:t>
            </a:r>
            <a:endParaRPr lang="en-US" sz="8800" dirty="0">
              <a:latin typeface="Bahnschrift SemiBold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5053" y="4455621"/>
            <a:ext cx="4829101" cy="1238616"/>
          </a:xfrm>
        </p:spPr>
        <p:txBody>
          <a:bodyPr>
            <a:normAutofit/>
          </a:bodyPr>
          <a:lstStyle/>
          <a:p>
            <a:r>
              <a:rPr lang="en-US" sz="2000" dirty="0"/>
              <a:t>Ashar kurnia </a:t>
            </a:r>
            <a:r>
              <a:rPr lang="en-US" sz="2000" dirty="0" err="1"/>
              <a:t>dian</a:t>
            </a:r>
            <a:r>
              <a:rPr lang="en-US" sz="2000" dirty="0"/>
              <a:t> </a:t>
            </a:r>
            <a:r>
              <a:rPr lang="en-US" sz="2000" dirty="0" err="1"/>
              <a:t>prambodo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40CBE3-3F91-419A-A649-32AB388EC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0"/>
            <a:ext cx="6096000" cy="685799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294754"/>
            <a:ext cx="43891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91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44B97B-CDE3-2066-C0DB-67C0855E9B8E}"/>
              </a:ext>
            </a:extLst>
          </p:cNvPr>
          <p:cNvSpPr txBox="1"/>
          <p:nvPr/>
        </p:nvSpPr>
        <p:spPr>
          <a:xfrm>
            <a:off x="539496" y="530352"/>
            <a:ext cx="10707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OVARIAN CANCER</a:t>
            </a:r>
            <a:endParaRPr lang="en-ID" sz="4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D26231-C439-0A3B-82CA-C0EB1557B64B}"/>
              </a:ext>
            </a:extLst>
          </p:cNvPr>
          <p:cNvSpPr txBox="1"/>
          <p:nvPr/>
        </p:nvSpPr>
        <p:spPr>
          <a:xfrm>
            <a:off x="640080" y="1536192"/>
            <a:ext cx="46542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7030A0"/>
                </a:solidFill>
              </a:rPr>
              <a:t>Ovarian cancer </a:t>
            </a:r>
            <a:r>
              <a:rPr lang="en-US" sz="2800" dirty="0"/>
              <a:t>is the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rgbClr val="7030A0"/>
                </a:solidFill>
              </a:rPr>
              <a:t>most lethal</a:t>
            </a:r>
            <a:r>
              <a:rPr lang="en-US" sz="2800" dirty="0"/>
              <a:t> </a:t>
            </a:r>
            <a:r>
              <a:rPr lang="en-US" sz="2800" dirty="0" err="1"/>
              <a:t>gynaecologic</a:t>
            </a:r>
            <a:r>
              <a:rPr lang="en-US" sz="2800" dirty="0"/>
              <a:t> cancer</a:t>
            </a:r>
            <a:endParaRPr lang="en-ID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741E26-388F-5517-2964-1F3EF616B348}"/>
              </a:ext>
            </a:extLst>
          </p:cNvPr>
          <p:cNvSpPr txBox="1"/>
          <p:nvPr/>
        </p:nvSpPr>
        <p:spPr>
          <a:xfrm>
            <a:off x="640080" y="2537423"/>
            <a:ext cx="46542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70 % OC patient have high serious carcinoma </a:t>
            </a:r>
            <a:endParaRPr lang="en-ID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072AB7-CD33-172D-3E85-4EEC8344CA49}"/>
              </a:ext>
            </a:extLst>
          </p:cNvPr>
          <p:cNvSpPr txBox="1"/>
          <p:nvPr/>
        </p:nvSpPr>
        <p:spPr>
          <a:xfrm>
            <a:off x="640080" y="3566243"/>
            <a:ext cx="58704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Surgery </a:t>
            </a:r>
            <a:r>
              <a:rPr lang="en-ID" sz="2800" dirty="0"/>
              <a:t>and chemotherapy is a standard treatment -&gt; But, OC recurs after initial treatment.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662F6C-2DC9-82A9-28E3-A42E01E39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4598" y="1790004"/>
            <a:ext cx="6297674" cy="3003506"/>
          </a:xfrm>
          <a:prstGeom prst="ellips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5210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3BBE8-2155-9E8D-59D3-B050A833A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771C92-7270-E254-0315-C6AD85DBEC16}"/>
              </a:ext>
            </a:extLst>
          </p:cNvPr>
          <p:cNvSpPr txBox="1"/>
          <p:nvPr/>
        </p:nvSpPr>
        <p:spPr>
          <a:xfrm>
            <a:off x="564665" y="335211"/>
            <a:ext cx="10707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BMP </a:t>
            </a:r>
            <a:r>
              <a:rPr lang="en-US" sz="4000" b="1" dirty="0" err="1"/>
              <a:t>signalling</a:t>
            </a:r>
            <a:endParaRPr lang="en-ID" sz="4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707A32-A031-37BC-F987-2678B76940B3}"/>
              </a:ext>
            </a:extLst>
          </p:cNvPr>
          <p:cNvSpPr txBox="1"/>
          <p:nvPr/>
        </p:nvSpPr>
        <p:spPr>
          <a:xfrm>
            <a:off x="665953" y="1053895"/>
            <a:ext cx="10910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Bone morphogenic protein (BMP) belong to transforming growth </a:t>
            </a:r>
            <a:r>
              <a:rPr lang="en-ID" dirty="0"/>
              <a:t>factor β (TGF- β) family which have two type receptors and</a:t>
            </a:r>
            <a:r>
              <a:rPr lang="en-US" dirty="0"/>
              <a:t> </a:t>
            </a:r>
            <a:r>
              <a:rPr lang="en-ID" dirty="0"/>
              <a:t>to induce phosphorylation of SMAD1/5/8.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9A8DF7-7CBE-9783-3556-B7380443C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789" y="1895447"/>
            <a:ext cx="10449375" cy="4057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868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80FC7-3138-7257-2B90-AC38D3030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D82CAF-FFC7-F3F7-31AB-D0E1A5986610}"/>
              </a:ext>
            </a:extLst>
          </p:cNvPr>
          <p:cNvSpPr txBox="1"/>
          <p:nvPr/>
        </p:nvSpPr>
        <p:spPr>
          <a:xfrm>
            <a:off x="564665" y="335211"/>
            <a:ext cx="10707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Purposes</a:t>
            </a:r>
            <a:endParaRPr lang="en-ID" sz="4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CB2322-CAF4-50FE-49A9-417CA040F85B}"/>
              </a:ext>
            </a:extLst>
          </p:cNvPr>
          <p:cNvSpPr txBox="1"/>
          <p:nvPr/>
        </p:nvSpPr>
        <p:spPr>
          <a:xfrm>
            <a:off x="665953" y="1053895"/>
            <a:ext cx="10910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Explore gene expression of BMP signaling for downstream analysis such as drug discovery to treat ovarian cancer.  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64142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4FEC1-A85C-8839-FCCC-C985C2B3A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CDC196-AAFA-11A2-AFF4-31C1A51EF26C}"/>
              </a:ext>
            </a:extLst>
          </p:cNvPr>
          <p:cNvSpPr txBox="1"/>
          <p:nvPr/>
        </p:nvSpPr>
        <p:spPr>
          <a:xfrm>
            <a:off x="294132" y="298635"/>
            <a:ext cx="10707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Method</a:t>
            </a:r>
            <a:endParaRPr lang="en-ID" sz="4000" b="1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EE69CAD-11F9-3906-BAD1-A7691BC69A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8407803"/>
              </p:ext>
            </p:extLst>
          </p:nvPr>
        </p:nvGraphicFramePr>
        <p:xfrm>
          <a:off x="546354" y="652578"/>
          <a:ext cx="11099292" cy="5202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2141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0BDB3-BFF5-6AF0-A67C-502F8944F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B34FD3-77D6-3436-E3D7-9C1003E2C972}"/>
              </a:ext>
            </a:extLst>
          </p:cNvPr>
          <p:cNvSpPr txBox="1"/>
          <p:nvPr/>
        </p:nvSpPr>
        <p:spPr>
          <a:xfrm>
            <a:off x="564665" y="335211"/>
            <a:ext cx="10707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Result</a:t>
            </a:r>
            <a:endParaRPr lang="en-ID" sz="4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53CFBB-DF8B-B1A1-7115-35D3AFB34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11" y="1153569"/>
            <a:ext cx="4974336" cy="45508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E8429D-399F-B099-144A-27AD43EFC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752" y="942513"/>
            <a:ext cx="4886753" cy="44707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52F943D-1571-7345-FEC5-0ED8B82DFBD2}"/>
              </a:ext>
            </a:extLst>
          </p:cNvPr>
          <p:cNvSpPr txBox="1"/>
          <p:nvPr/>
        </p:nvSpPr>
        <p:spPr>
          <a:xfrm>
            <a:off x="853440" y="5814903"/>
            <a:ext cx="5065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b="1" dirty="0"/>
              <a:t>Fig.1 </a:t>
            </a:r>
            <a:r>
              <a:rPr lang="en-ID" sz="1400" dirty="0"/>
              <a:t>Top 10 Gene Expression of BMP signalling in Ovarian Cancer volcano plot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A67C54-6A19-4766-BCE4-4971D0801CFA}"/>
              </a:ext>
            </a:extLst>
          </p:cNvPr>
          <p:cNvSpPr txBox="1"/>
          <p:nvPr/>
        </p:nvSpPr>
        <p:spPr>
          <a:xfrm>
            <a:off x="6682001" y="5481941"/>
            <a:ext cx="45902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 </a:t>
            </a:r>
            <a:endParaRPr lang="en-ID" sz="1600" dirty="0"/>
          </a:p>
          <a:p>
            <a:r>
              <a:rPr lang="en-ID" sz="1400" b="1" dirty="0"/>
              <a:t>Fig.2 </a:t>
            </a:r>
            <a:r>
              <a:rPr lang="en-ID" sz="1400" dirty="0"/>
              <a:t>Top 10 Gene Expression of BMP signalling in Ovarian Cancer volcano plot.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59941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629A3-912A-2B3C-AE13-F2830FD7D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613AE3-FF8D-1502-9DB6-28E4708510FD}"/>
              </a:ext>
            </a:extLst>
          </p:cNvPr>
          <p:cNvSpPr txBox="1"/>
          <p:nvPr/>
        </p:nvSpPr>
        <p:spPr>
          <a:xfrm>
            <a:off x="276629" y="0"/>
            <a:ext cx="10707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Result</a:t>
            </a:r>
            <a:endParaRPr lang="en-ID" sz="4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448797-E40C-F988-278B-8C6CFD082491}"/>
              </a:ext>
            </a:extLst>
          </p:cNvPr>
          <p:cNvSpPr txBox="1"/>
          <p:nvPr/>
        </p:nvSpPr>
        <p:spPr>
          <a:xfrm>
            <a:off x="4387572" y="5901834"/>
            <a:ext cx="5065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1" dirty="0"/>
              <a:t>Fig.3.</a:t>
            </a:r>
            <a:r>
              <a:rPr lang="en-ID" dirty="0"/>
              <a:t>TGF-β signalling pathway.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32D7692-2990-4B37-A1D6-71BFE368DA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124" y="125654"/>
            <a:ext cx="6078918" cy="565052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74C1FAC-98E8-0648-3A93-33B212D1ED2F}"/>
              </a:ext>
            </a:extLst>
          </p:cNvPr>
          <p:cNvSpPr/>
          <p:nvPr/>
        </p:nvSpPr>
        <p:spPr>
          <a:xfrm>
            <a:off x="2405124" y="1701579"/>
            <a:ext cx="6078918" cy="7078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89198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A8BA1-6576-2D0C-F257-16326E7DD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A51349-81B4-ECDC-8EBB-7693EC9593FC}"/>
              </a:ext>
            </a:extLst>
          </p:cNvPr>
          <p:cNvSpPr txBox="1"/>
          <p:nvPr/>
        </p:nvSpPr>
        <p:spPr>
          <a:xfrm>
            <a:off x="372640" y="78498"/>
            <a:ext cx="93565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Result</a:t>
            </a:r>
            <a:endParaRPr lang="en-ID" sz="3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533A3C-D03B-438D-F27B-C979C378F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867" y="564489"/>
            <a:ext cx="3567283" cy="50961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96960C-BA05-4E76-5B64-27B181616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6933" y="663273"/>
            <a:ext cx="3498133" cy="49973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7AE0243-3F46-F109-D609-C0CB0AC884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849" y="778473"/>
            <a:ext cx="3336854" cy="47669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2DC9C04-C317-D4F4-4FB2-148A13D9139B}"/>
              </a:ext>
            </a:extLst>
          </p:cNvPr>
          <p:cNvSpPr txBox="1"/>
          <p:nvPr/>
        </p:nvSpPr>
        <p:spPr>
          <a:xfrm>
            <a:off x="522357" y="5651930"/>
            <a:ext cx="2960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b="1" dirty="0"/>
              <a:t>Fig.4.A GO enrichment BP aspect</a:t>
            </a:r>
            <a:endParaRPr lang="en-ID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1536FD-25F1-C6F4-5C59-82F96AC3F1EA}"/>
              </a:ext>
            </a:extLst>
          </p:cNvPr>
          <p:cNvSpPr txBox="1"/>
          <p:nvPr/>
        </p:nvSpPr>
        <p:spPr>
          <a:xfrm>
            <a:off x="4507749" y="5660606"/>
            <a:ext cx="2852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b="1" dirty="0"/>
              <a:t>Fig.4.B GO enrichment MF aspect</a:t>
            </a:r>
            <a:endParaRPr lang="en-ID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029F08-33FB-4414-67E5-059EC6D56549}"/>
              </a:ext>
            </a:extLst>
          </p:cNvPr>
          <p:cNvSpPr txBox="1"/>
          <p:nvPr/>
        </p:nvSpPr>
        <p:spPr>
          <a:xfrm>
            <a:off x="8654775" y="5651929"/>
            <a:ext cx="2852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b="1" dirty="0"/>
              <a:t>Fig.4.C GO enrichment CC aspect</a:t>
            </a:r>
            <a:endParaRPr lang="en-ID" sz="1400" dirty="0"/>
          </a:p>
        </p:txBody>
      </p:sp>
    </p:spTree>
    <p:extLst>
      <p:ext uri="{BB962C8B-B14F-4D97-AF65-F5344CB8AC3E}">
        <p14:creationId xmlns:p14="http://schemas.microsoft.com/office/powerpoint/2010/main" val="2698928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4B3EC-5B7F-4830-A12C-0381143E2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F9DCBC-BE9A-B647-A283-A23CB332217A}"/>
              </a:ext>
            </a:extLst>
          </p:cNvPr>
          <p:cNvSpPr txBox="1"/>
          <p:nvPr/>
        </p:nvSpPr>
        <p:spPr>
          <a:xfrm>
            <a:off x="360284" y="236151"/>
            <a:ext cx="93565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Discussion</a:t>
            </a:r>
            <a:endParaRPr lang="en-ID" sz="32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C81958-584F-8581-6FC4-36648E380726}"/>
              </a:ext>
            </a:extLst>
          </p:cNvPr>
          <p:cNvSpPr txBox="1"/>
          <p:nvPr/>
        </p:nvSpPr>
        <p:spPr>
          <a:xfrm>
            <a:off x="566987" y="899604"/>
            <a:ext cx="10713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levels </a:t>
            </a:r>
            <a:r>
              <a:rPr lang="en-ID" dirty="0"/>
              <a:t>ID proteins in tumorigenesis is likely to be mediated by the inhibition of basic helix-loop-helix (</a:t>
            </a:r>
            <a:r>
              <a:rPr lang="en-ID" dirty="0" err="1"/>
              <a:t>bHLH</a:t>
            </a:r>
            <a:r>
              <a:rPr lang="en-ID" dirty="0"/>
              <a:t>) transcription factors and cell differentiation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9A4297-4C06-A1AB-4735-6E50623FF462}"/>
              </a:ext>
            </a:extLst>
          </p:cNvPr>
          <p:cNvSpPr txBox="1"/>
          <p:nvPr/>
        </p:nvSpPr>
        <p:spPr>
          <a:xfrm>
            <a:off x="566987" y="1624613"/>
            <a:ext cx="107137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bHLH</a:t>
            </a:r>
            <a:r>
              <a:rPr lang="en-ID" dirty="0"/>
              <a:t> proteins are transcription factors that bind to cognate E-box sequences and induce the expression of specific genes including those that promote differentiation of stem cell or progenitor cells (Lee et al., 2022).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D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AB9AFC-31D4-285C-BE84-7EF6B5AB1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893" y="2547943"/>
            <a:ext cx="8521889" cy="3593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956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3BA0A-0DFD-6B3A-708C-B3E1AC867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576F58-253C-0930-8516-14E393DD2666}"/>
              </a:ext>
            </a:extLst>
          </p:cNvPr>
          <p:cNvSpPr txBox="1"/>
          <p:nvPr/>
        </p:nvSpPr>
        <p:spPr>
          <a:xfrm>
            <a:off x="372640" y="240688"/>
            <a:ext cx="93565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Conclusion</a:t>
            </a:r>
            <a:endParaRPr lang="en-ID" sz="32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6D5C0B-ED08-D2C7-A51B-1C38EE5FE550}"/>
              </a:ext>
            </a:extLst>
          </p:cNvPr>
          <p:cNvSpPr txBox="1"/>
          <p:nvPr/>
        </p:nvSpPr>
        <p:spPr>
          <a:xfrm>
            <a:off x="566987" y="899604"/>
            <a:ext cx="107137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	BMP signalling have a roles in OC development and the DEG analysis proves that ID family genes from BMP signalling downstream process are correlated with </a:t>
            </a:r>
            <a:r>
              <a:rPr lang="en-ID" dirty="0" err="1"/>
              <a:t>bHLH</a:t>
            </a:r>
            <a:r>
              <a:rPr lang="en-ID" dirty="0"/>
              <a:t> inhibition. Thus, BMP signalling inhibitor  potentially can used for therapeutic target for cure ovarian cancer</a:t>
            </a:r>
          </a:p>
        </p:txBody>
      </p:sp>
    </p:spTree>
    <p:extLst>
      <p:ext uri="{BB962C8B-B14F-4D97-AF65-F5344CB8AC3E}">
        <p14:creationId xmlns:p14="http://schemas.microsoft.com/office/powerpoint/2010/main" val="1157526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E80FAC-019D-09E5-B380-045F6F74F247}"/>
              </a:ext>
            </a:extLst>
          </p:cNvPr>
          <p:cNvSpPr txBox="1"/>
          <p:nvPr/>
        </p:nvSpPr>
        <p:spPr>
          <a:xfrm>
            <a:off x="877330" y="2497269"/>
            <a:ext cx="97371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Thank You</a:t>
            </a:r>
            <a:endParaRPr lang="en-ID" sz="6000" b="1" dirty="0"/>
          </a:p>
        </p:txBody>
      </p:sp>
    </p:spTree>
    <p:extLst>
      <p:ext uri="{BB962C8B-B14F-4D97-AF65-F5344CB8AC3E}">
        <p14:creationId xmlns:p14="http://schemas.microsoft.com/office/powerpoint/2010/main" val="363201252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">
      <a:dk1>
        <a:srgbClr val="000000"/>
      </a:dk1>
      <a:lt1>
        <a:srgbClr val="FFFFFF"/>
      </a:lt1>
      <a:dk2>
        <a:srgbClr val="243541"/>
      </a:dk2>
      <a:lt2>
        <a:srgbClr val="E2E5E8"/>
      </a:lt2>
      <a:accent1>
        <a:srgbClr val="E88B33"/>
      </a:accent1>
      <a:accent2>
        <a:srgbClr val="AEA33A"/>
      </a:accent2>
      <a:accent3>
        <a:srgbClr val="8CAB4A"/>
      </a:accent3>
      <a:accent4>
        <a:srgbClr val="57B636"/>
      </a:accent4>
      <a:accent5>
        <a:srgbClr val="2EBA43"/>
      </a:accent5>
      <a:accent6>
        <a:srgbClr val="33B67D"/>
      </a:accent6>
      <a:hlink>
        <a:srgbClr val="5F84A8"/>
      </a:hlink>
      <a:folHlink>
        <a:srgbClr val="7F7F7F"/>
      </a:folHlink>
    </a:clrScheme>
    <a:fontScheme name="Retrospect">
      <a:majorFont>
        <a:latin typeface="Georgia Pro Cond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3CD65D-61A5-43C9-A837-6EC73C7DA8A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31F006B4-A9E1-4F39-85C8-FB836F9193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377351-63A1-4C2E-8C9A-66CDD70F1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{23DEBBEC-CCC6-4A5A-8D60-7807E7B30335}TF235124e3-e6db-4c6d-93c8-733f2fadbc609fb6f57c_win32-b1e91d96f19e</Template>
  <TotalTime>289</TotalTime>
  <Words>378</Words>
  <Application>Microsoft Office PowerPoint</Application>
  <PresentationFormat>Widescreen</PresentationFormat>
  <Paragraphs>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Bahnschrift SemiBold</vt:lpstr>
      <vt:lpstr>Calibri</vt:lpstr>
      <vt:lpstr>Georgia Pro Cond Light</vt:lpstr>
      <vt:lpstr>Speak Pro</vt:lpstr>
      <vt:lpstr>RetrospectVTI</vt:lpstr>
      <vt:lpstr>DEG EXPLORATION OF BMP SIGNALING FOR OVARIAN CANCER THERAUPETIC AGENT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Ashar Kurnia</dc:creator>
  <cp:lastModifiedBy>Ashar Kurnia</cp:lastModifiedBy>
  <cp:revision>15</cp:revision>
  <dcterms:created xsi:type="dcterms:W3CDTF">2026-03-02T23:38:42Z</dcterms:created>
  <dcterms:modified xsi:type="dcterms:W3CDTF">2026-03-05T09:05:13Z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